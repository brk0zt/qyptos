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1" r:id="rId3"/>
    <p:sldId id="257" r:id="rId4"/>
    <p:sldId id="292" r:id="rId5"/>
    <p:sldId id="258" r:id="rId6"/>
    <p:sldId id="290" r:id="rId7"/>
    <p:sldId id="293" r:id="rId8"/>
    <p:sldId id="294" r:id="rId9"/>
    <p:sldId id="259" r:id="rId10"/>
    <p:sldId id="260" r:id="rId11"/>
    <p:sldId id="261" r:id="rId12"/>
    <p:sldId id="262" r:id="rId13"/>
    <p:sldId id="263" r:id="rId14"/>
    <p:sldId id="264" r:id="rId15"/>
    <p:sldId id="295" r:id="rId16"/>
    <p:sldId id="296" r:id="rId17"/>
    <p:sldId id="297" r:id="rId18"/>
    <p:sldId id="298" r:id="rId19"/>
    <p:sldId id="265" r:id="rId20"/>
    <p:sldId id="266" r:id="rId21"/>
    <p:sldId id="267" r:id="rId22"/>
    <p:sldId id="268" r:id="rId23"/>
    <p:sldId id="270" r:id="rId24"/>
    <p:sldId id="269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D833-EC1F-4589-99F5-27F9C5A46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453F2C-3BCD-42F9-9A1F-07CFFD923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DBC57-FFEA-48CA-862B-B0B8E77E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1ECB7-CF8B-48FB-93DC-DBEC9B650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441A1-21E1-411F-A036-17F6B926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56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1C040-F6E6-4B59-94F8-F89F9AF32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3518F-505A-4ABB-9796-552E627F1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89C74-2121-4D24-BF3C-E5E9B021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537C1-9224-4FBB-94C1-7CB111F4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C117-F313-43AB-A15B-0021FBF28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377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4D54-FAFB-4955-87EE-97087294D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76EAD-F63A-4D3D-9EDB-4EFDB9B56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3C469-A8BA-4D5D-A9C8-3F9DEDF3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5B9A0-B877-419C-B030-1E7758462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7C4904-34D0-41E5-89E6-60123E56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87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99886-D0D7-4019-AC36-904924F7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769B7-BACD-4F84-8290-BFF7EC18FD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FCB8A-95F5-42FB-B9E6-CFE47B9EB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1D79A-B29F-42F4-872D-17EEDA0C0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FEE453-505A-4639-B086-056E4E5B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B805E-6D23-4779-A362-82E476C9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4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551C7-9362-4A22-B76D-05E71EC35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F89BB-6726-48BC-9CAA-56F527FB3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DAEA0-955C-4172-A15A-77A7498188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754DA4-FFB6-4980-A2C7-F41867F7F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6E5461-D9FB-49E0-95A9-4A45E6B25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141F2B-D71B-43D1-9ACF-2E3F9467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DBA4F4-674B-4C5B-B879-1C9B57157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0A40BC-5EF6-4535-AEF1-2D693D15C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CBAD-DA78-447F-A503-C00F2F49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A5C8EA-C014-4649-A197-8873BD763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119C2-5DF3-45C6-A7B1-16F18D9C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E419C-7262-472C-B60C-E9E3E9F6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34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731C98-3ADD-484D-8A15-84A6A350F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12CF2A-4332-4D6B-81A8-69F963712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D6631-49ED-4DF5-9BFC-6F3CF7228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43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63A1-7850-4D12-B5B2-CD9FEA3C5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59491-481B-4B4A-85C8-BACE8A5FE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9172BA-D1E9-4588-A9FB-D6FC5B80B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5C7B7-B748-437A-A668-424FEBB2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BAD84-6B89-453D-A06F-C792294C2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FBBAB-3F49-429E-9B24-FA6012BE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3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B9C0-E9F3-49D0-8163-C97ED0C0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BC29D-5891-49D0-9130-471F166A8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D7FEF-C47A-45B2-B308-D75AB28BE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9BFAB-5F25-4109-B5EC-630450A0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BFE9E-1E98-496E-92A8-6F3C57F1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5A2EF5-10C5-4CF3-B655-67E8431C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8BA7F-915D-4AF8-B304-51158C76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0B24ED-7C98-4683-956D-427472D52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A72BD-CCC3-41B0-B462-F31F8C0D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3A65F-20B8-4AEE-81BA-D0C0F114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8B369-0816-4D85-B0CA-9895391FC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9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AD70BA-A065-4057-9591-297B456CE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90622-677B-4630-BDED-DFF36549B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09490-8D8A-41A2-B3C8-60E31605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4FED2-2132-4825-8673-D48ED175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85C0-3916-4EE7-8103-3E90AE2D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228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E1157-AF30-4E78-AB4B-03E2A30EC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7C919-0D55-4AEF-B9D4-BC1EC1E85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8E4CC-10BE-464E-9399-81CD4AA8FB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81420-78C7-4835-84D1-53E65B511B43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189C2-15DE-445F-A2C1-BD4D2A9CC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F2FB3-1493-4AB9-A025-1A1EEBFD56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F57C2-D7D7-4779-9C22-AEB105385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1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19685-4B6B-4351-9137-D87C1B6F98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746217-1F1C-425D-AE9C-527AFE90A8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Assoc. Prof. Dr. </a:t>
            </a:r>
            <a:r>
              <a:rPr lang="tr-TR" dirty="0"/>
              <a:t>Meryem ŞERİFİ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2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0894-CE70-D771-456D-DDEB45066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387"/>
            <a:ext cx="10515600" cy="1013299"/>
          </a:xfrm>
        </p:spPr>
        <p:txBody>
          <a:bodyPr/>
          <a:lstStyle/>
          <a:p>
            <a:r>
              <a:rPr lang="en-US" dirty="0"/>
              <a:t>Stack</a:t>
            </a:r>
            <a:endParaRPr lang="tr-T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E3CD3-FC66-1D65-CD1E-5404443DD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722" y="1253330"/>
            <a:ext cx="10515600" cy="5283947"/>
          </a:xfrm>
        </p:spPr>
        <p:txBody>
          <a:bodyPr/>
          <a:lstStyle/>
          <a:p>
            <a:r>
              <a:rPr lang="en-US" dirty="0"/>
              <a:t>A stack is an Abstract Data Type (ADT), commonly used in most programming languages.</a:t>
            </a:r>
          </a:p>
          <a:p>
            <a:endParaRPr lang="en-US" dirty="0"/>
          </a:p>
          <a:p>
            <a:r>
              <a:rPr lang="en-US" dirty="0"/>
              <a:t>It is named stack as it behaves like a real-world stack, for example – a deck of cards or a pile of plates, etc. </a:t>
            </a:r>
          </a:p>
          <a:p>
            <a:endParaRPr lang="en-US" dirty="0"/>
          </a:p>
          <a:p>
            <a:r>
              <a:rPr lang="en-US" dirty="0"/>
              <a:t>A real-world stack allows operations at one end only. For example, we can place or remove a card or plate from the top of the stack only.</a:t>
            </a:r>
          </a:p>
          <a:p>
            <a:endParaRPr lang="en-US" dirty="0"/>
          </a:p>
          <a:p>
            <a:endParaRPr lang="tr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3F4612-74C5-2BB5-6101-60E77E96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080" y="4799807"/>
            <a:ext cx="5029200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6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7118E-3F1F-4D5A-B04B-24A3CF66D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C9F75-258C-4CE2-A443-04E7E06B6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stack is a </a:t>
            </a:r>
            <a:r>
              <a:rPr lang="en-US" dirty="0">
                <a:solidFill>
                  <a:srgbClr val="FF0000"/>
                </a:solidFill>
              </a:rPr>
              <a:t>linear data structure </a:t>
            </a:r>
            <a:r>
              <a:rPr lang="en-US" dirty="0"/>
              <a:t>that follows the </a:t>
            </a:r>
            <a:r>
              <a:rPr lang="en-US" dirty="0">
                <a:solidFill>
                  <a:srgbClr val="FF0000"/>
                </a:solidFill>
              </a:rPr>
              <a:t>Last In, First Out (LIFO) </a:t>
            </a:r>
            <a:r>
              <a:rPr lang="en-US" dirty="0"/>
              <a:t>principle. This means the last element added to the stack will be the first one to be removed.</a:t>
            </a:r>
            <a:endParaRPr lang="tr-TR" dirty="0"/>
          </a:p>
          <a:p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endParaRPr lang="en-US" dirty="0">
              <a:solidFill>
                <a:srgbClr val="273239"/>
              </a:solidFill>
              <a:latin typeface="urw-din"/>
            </a:endParaRPr>
          </a:p>
          <a:p>
            <a:endParaRPr lang="en-US" b="0" i="0" dirty="0">
              <a:solidFill>
                <a:srgbClr val="273239"/>
              </a:solidFill>
              <a:effectLst/>
              <a:latin typeface="urw-din"/>
            </a:endParaRPr>
          </a:p>
          <a:p>
            <a:endParaRPr lang="en-US" dirty="0">
              <a:solidFill>
                <a:srgbClr val="273239"/>
              </a:solidFill>
              <a:latin typeface="urw-din"/>
            </a:endParaRP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14DB06E-D08C-484A-8DC2-750BDBACF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818" y="3130550"/>
            <a:ext cx="44672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92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FB943-5DA9-0DD5-AD95-ABBB71EFC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  <a:endParaRPr lang="tr-T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FAFE15-C7C9-5323-18A0-EAEA151DD0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815" y="1673851"/>
            <a:ext cx="7681585" cy="4846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E7D5E7-F46A-052F-7263-CF63BA0A7CA8}"/>
              </a:ext>
            </a:extLst>
          </p:cNvPr>
          <p:cNvSpPr txBox="1"/>
          <p:nvPr/>
        </p:nvSpPr>
        <p:spPr>
          <a:xfrm>
            <a:off x="1902106" y="1506022"/>
            <a:ext cx="7883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stack can be implemented by means of Array, Structure, Pointer, and Linked List.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8518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39C8E-6B93-4D78-BFE6-FF940C393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13D09-F360-44A0-A10F-060F8CAFB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Stack</a:t>
            </a:r>
            <a:r>
              <a:rPr lang="en-US" sz="1800" dirty="0">
                <a:latin typeface="Times New Roman" panose="02020603050405020304" pitchFamily="18" charset="0"/>
              </a:rPr>
              <a:t> is a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region of memory </a:t>
            </a:r>
            <a:r>
              <a:rPr lang="en-US" sz="1800" dirty="0">
                <a:latin typeface="Times New Roman" panose="02020603050405020304" pitchFamily="18" charset="0"/>
              </a:rPr>
              <a:t>in a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computer system</a:t>
            </a:r>
            <a:r>
              <a:rPr lang="en-US" sz="1800" dirty="0">
                <a:latin typeface="Times New Roman" panose="02020603050405020304" pitchFamily="18" charset="0"/>
              </a:rPr>
              <a:t> used for managing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function calls</a:t>
            </a:r>
            <a:r>
              <a:rPr lang="en-US" sz="1800" dirty="0">
                <a:latin typeface="Times New Roman" panose="02020603050405020304" pitchFamily="18" charset="0"/>
              </a:rPr>
              <a:t>,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local variables</a:t>
            </a:r>
            <a:r>
              <a:rPr lang="en-US" sz="1800" dirty="0">
                <a:latin typeface="Times New Roman" panose="02020603050405020304" pitchFamily="18" charset="0"/>
              </a:rPr>
              <a:t>, and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</a:rPr>
              <a:t>control flow in programs</a:t>
            </a:r>
            <a:r>
              <a:rPr lang="en-US" sz="1800" dirty="0">
                <a:latin typeface="Times New Roman" panose="02020603050405020304" pitchFamily="18" charset="0"/>
              </a:rPr>
              <a:t>. </a:t>
            </a:r>
            <a:endParaRPr lang="tr-TR" sz="1800" dirty="0">
              <a:latin typeface="Times New Roman" panose="02020603050405020304" pitchFamily="18" charset="0"/>
            </a:endParaRP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we represent a stack using vector elements</a:t>
            </a: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024B01-2216-467D-8F91-193742B01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873" y="3291119"/>
            <a:ext cx="3067050" cy="2228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6F9205-CAD6-E55C-771A-8C7D6CB05DA5}"/>
              </a:ext>
            </a:extLst>
          </p:cNvPr>
          <p:cNvSpPr txBox="1"/>
          <p:nvPr/>
        </p:nvSpPr>
        <p:spPr>
          <a:xfrm>
            <a:off x="1149824" y="5665569"/>
            <a:ext cx="92497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Stack can either be a fixed size one or it may have a sense of dynamic resizing.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71073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D05F03-BEC8-B321-2098-9D71493B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4166"/>
          </a:xfrm>
        </p:spPr>
        <p:txBody>
          <a:bodyPr>
            <a:normAutofit fontScale="90000"/>
          </a:bodyPr>
          <a:lstStyle/>
          <a:p>
            <a:r>
              <a:rPr lang="en-US" dirty="0"/>
              <a:t>Operations on Stacks</a:t>
            </a:r>
            <a:endParaRPr lang="tr-T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95F02D7-9CDF-5410-348B-16101197B8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92806"/>
            <a:ext cx="8475397" cy="58169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1. </a:t>
            </a:r>
            <a:r>
              <a:rPr kumimoji="0" lang="tr-TR" altLang="tr-TR" sz="1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Push</a:t>
            </a:r>
            <a:endParaRPr kumimoji="0" lang="tr-TR" altLang="tr-TR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r-TR" altLang="tr-TR" sz="1400" dirty="0" err="1">
                <a:latin typeface="Arial" panose="020B0604020202020204" pitchFamily="34" charset="0"/>
              </a:rPr>
              <a:t>Adds</a:t>
            </a:r>
            <a:r>
              <a:rPr lang="tr-TR" altLang="tr-TR" sz="1400" dirty="0">
                <a:latin typeface="Arial" panose="020B0604020202020204" pitchFamily="34" charset="0"/>
              </a:rPr>
              <a:t> an element </a:t>
            </a:r>
            <a:r>
              <a:rPr lang="tr-TR" altLang="tr-TR" sz="1400" dirty="0" err="1">
                <a:latin typeface="Arial" panose="020B0604020202020204" pitchFamily="34" charset="0"/>
              </a:rPr>
              <a:t>to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top of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stack</a:t>
            </a:r>
            <a:r>
              <a:rPr lang="tr-TR" altLang="tr-TR" sz="1400" dirty="0">
                <a:latin typeface="Arial" panose="020B0604020202020204" pitchFamily="34" charset="0"/>
              </a:rPr>
              <a:t>.</a:t>
            </a:r>
            <a:endParaRPr lang="en-US" altLang="tr-T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2. Pop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400" dirty="0" err="1">
                <a:latin typeface="Arial" panose="020B0604020202020204" pitchFamily="34" charset="0"/>
              </a:rPr>
              <a:t>Removes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and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returns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top element </a:t>
            </a:r>
            <a:r>
              <a:rPr lang="tr-TR" altLang="tr-TR" sz="1400" dirty="0" err="1">
                <a:latin typeface="Arial" panose="020B0604020202020204" pitchFamily="34" charset="0"/>
              </a:rPr>
              <a:t>from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stack</a:t>
            </a:r>
            <a:r>
              <a:rPr lang="tr-TR" altLang="tr-TR" sz="1400" dirty="0">
                <a:latin typeface="Arial" panose="020B0604020202020204" pitchFamily="34" charset="0"/>
              </a:rPr>
              <a:t>.</a:t>
            </a:r>
            <a:endParaRPr lang="en-US" altLang="tr-T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3. </a:t>
            </a:r>
            <a:r>
              <a:rPr lang="tr-TR" altLang="tr-TR" sz="1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Peek</a:t>
            </a: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/Top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r-TR" altLang="tr-TR" sz="1400" dirty="0" err="1">
                <a:latin typeface="Arial" panose="020B0604020202020204" pitchFamily="34" charset="0"/>
              </a:rPr>
              <a:t>Returns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top element of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stack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without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removing</a:t>
            </a:r>
            <a:r>
              <a:rPr lang="tr-TR" altLang="tr-TR" sz="1400" dirty="0">
                <a:latin typeface="Arial" panose="020B0604020202020204" pitchFamily="34" charset="0"/>
              </a:rPr>
              <a:t> it.</a:t>
            </a:r>
            <a:endParaRPr lang="en-US" altLang="tr-T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4. </a:t>
            </a:r>
            <a:r>
              <a:rPr lang="tr-TR" altLang="tr-TR" sz="1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IsEmpty</a:t>
            </a:r>
            <a:endParaRPr lang="tr-TR" altLang="tr-TR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400" dirty="0" err="1">
                <a:latin typeface="Arial" panose="020B0604020202020204" pitchFamily="34" charset="0"/>
              </a:rPr>
              <a:t>Checks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if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stack</a:t>
            </a:r>
            <a:r>
              <a:rPr lang="tr-TR" altLang="tr-TR" sz="1400" dirty="0">
                <a:latin typeface="Arial" panose="020B0604020202020204" pitchFamily="34" charset="0"/>
              </a:rPr>
              <a:t> is </a:t>
            </a:r>
            <a:r>
              <a:rPr lang="tr-TR" altLang="tr-TR" sz="1400" dirty="0" err="1">
                <a:latin typeface="Arial" panose="020B0604020202020204" pitchFamily="34" charset="0"/>
              </a:rPr>
              <a:t>empty</a:t>
            </a:r>
            <a:r>
              <a:rPr lang="tr-TR" altLang="tr-TR" sz="1400" dirty="0">
                <a:latin typeface="Arial" panose="020B0604020202020204" pitchFamily="34" charset="0"/>
              </a:rPr>
              <a:t>.</a:t>
            </a:r>
            <a:endParaRPr lang="en-US" altLang="tr-T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5. </a:t>
            </a:r>
            <a:r>
              <a:rPr lang="tr-TR" altLang="tr-TR" sz="1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IsFull</a:t>
            </a: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 (</a:t>
            </a:r>
            <a:r>
              <a:rPr lang="tr-TR" altLang="tr-TR" sz="1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for</a:t>
            </a: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tr-TR" altLang="tr-TR" sz="1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fixed</a:t>
            </a: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-size </a:t>
            </a:r>
            <a:r>
              <a:rPr lang="tr-TR" altLang="tr-TR" sz="1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stacks</a:t>
            </a: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tr-TR" altLang="tr-TR" sz="1400" dirty="0" err="1">
                <a:latin typeface="Arial" panose="020B0604020202020204" pitchFamily="34" charset="0"/>
              </a:rPr>
              <a:t>Checks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if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stack</a:t>
            </a:r>
            <a:r>
              <a:rPr lang="tr-TR" altLang="tr-TR" sz="1400" dirty="0">
                <a:latin typeface="Arial" panose="020B0604020202020204" pitchFamily="34" charset="0"/>
              </a:rPr>
              <a:t> has </a:t>
            </a:r>
            <a:r>
              <a:rPr lang="tr-TR" altLang="tr-TR" sz="1400" dirty="0" err="1">
                <a:latin typeface="Arial" panose="020B0604020202020204" pitchFamily="34" charset="0"/>
              </a:rPr>
              <a:t>reached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its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maximum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capacity</a:t>
            </a:r>
            <a:r>
              <a:rPr lang="tr-TR" altLang="tr-TR" sz="1400" dirty="0">
                <a:latin typeface="Arial" panose="020B0604020202020204" pitchFamily="34" charset="0"/>
              </a:rPr>
              <a:t> (</a:t>
            </a:r>
            <a:r>
              <a:rPr lang="tr-TR" altLang="tr-TR" sz="1400" dirty="0" err="1">
                <a:latin typeface="Arial" panose="020B0604020202020204" pitchFamily="34" charset="0"/>
              </a:rPr>
              <a:t>used</a:t>
            </a:r>
            <a:r>
              <a:rPr lang="tr-TR" altLang="tr-TR" sz="1400" dirty="0">
                <a:latin typeface="Arial" panose="020B0604020202020204" pitchFamily="34" charset="0"/>
              </a:rPr>
              <a:t> in </a:t>
            </a:r>
            <a:r>
              <a:rPr lang="tr-TR" altLang="tr-TR" sz="1400" dirty="0" err="1">
                <a:latin typeface="Arial" panose="020B0604020202020204" pitchFamily="34" charset="0"/>
              </a:rPr>
              <a:t>implementations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with</a:t>
            </a:r>
            <a:r>
              <a:rPr lang="tr-TR" altLang="tr-TR" sz="1400" dirty="0">
                <a:latin typeface="Arial" panose="020B0604020202020204" pitchFamily="34" charset="0"/>
              </a:rPr>
              <a:t> a </a:t>
            </a:r>
            <a:r>
              <a:rPr lang="tr-TR" altLang="tr-TR" sz="1400" dirty="0" err="1">
                <a:latin typeface="Arial" panose="020B0604020202020204" pitchFamily="34" charset="0"/>
              </a:rPr>
              <a:t>predefined</a:t>
            </a:r>
            <a:r>
              <a:rPr lang="tr-TR" altLang="tr-TR" sz="1400" dirty="0">
                <a:latin typeface="Arial" panose="020B0604020202020204" pitchFamily="34" charset="0"/>
              </a:rPr>
              <a:t> limit).</a:t>
            </a:r>
            <a:endParaRPr lang="en-US" altLang="tr-T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6. Size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tr-TR" altLang="tr-TR" sz="1400" dirty="0" err="1">
                <a:latin typeface="Arial" panose="020B0604020202020204" pitchFamily="34" charset="0"/>
              </a:rPr>
              <a:t>Returns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number</a:t>
            </a:r>
            <a:r>
              <a:rPr lang="tr-TR" altLang="tr-TR" sz="1400" dirty="0">
                <a:latin typeface="Arial" panose="020B0604020202020204" pitchFamily="34" charset="0"/>
              </a:rPr>
              <a:t> of </a:t>
            </a:r>
            <a:r>
              <a:rPr lang="tr-TR" altLang="tr-TR" sz="1400" dirty="0" err="1">
                <a:latin typeface="Arial" panose="020B0604020202020204" pitchFamily="34" charset="0"/>
              </a:rPr>
              <a:t>elements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currently</a:t>
            </a:r>
            <a:r>
              <a:rPr lang="tr-TR" altLang="tr-TR" sz="1400" dirty="0">
                <a:latin typeface="Arial" panose="020B0604020202020204" pitchFamily="34" charset="0"/>
              </a:rPr>
              <a:t> in </a:t>
            </a:r>
            <a:r>
              <a:rPr lang="tr-TR" altLang="tr-TR" sz="1400" dirty="0" err="1">
                <a:latin typeface="Arial" panose="020B0604020202020204" pitchFamily="34" charset="0"/>
              </a:rPr>
              <a:t>the</a:t>
            </a:r>
            <a:r>
              <a:rPr lang="tr-TR" altLang="tr-TR" sz="1400" dirty="0">
                <a:latin typeface="Arial" panose="020B0604020202020204" pitchFamily="34" charset="0"/>
              </a:rPr>
              <a:t> </a:t>
            </a:r>
            <a:r>
              <a:rPr lang="tr-TR" altLang="tr-TR" sz="1400" dirty="0" err="1">
                <a:latin typeface="Arial" panose="020B0604020202020204" pitchFamily="34" charset="0"/>
              </a:rPr>
              <a:t>stack</a:t>
            </a:r>
            <a:r>
              <a:rPr lang="tr-TR" altLang="tr-TR" sz="1400" dirty="0">
                <a:latin typeface="Arial" panose="020B0604020202020204" pitchFamily="34" charset="0"/>
              </a:rPr>
              <a:t>.</a:t>
            </a:r>
            <a:endParaRPr lang="en-US" altLang="tr-T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tr-TR" altLang="tr-TR" sz="1400" b="1" dirty="0">
                <a:solidFill>
                  <a:srgbClr val="FF0000"/>
                </a:solidFill>
                <a:latin typeface="Arial" panose="020B0604020202020204" pitchFamily="34" charset="0"/>
              </a:rPr>
              <a:t>7. </a:t>
            </a:r>
            <a:r>
              <a:rPr lang="tr-TR" altLang="tr-TR" sz="1400" b="1" dirty="0" err="1">
                <a:solidFill>
                  <a:srgbClr val="FF0000"/>
                </a:solidFill>
                <a:latin typeface="Arial" panose="020B0604020202020204" pitchFamily="34" charset="0"/>
              </a:rPr>
              <a:t>Clear</a:t>
            </a:r>
            <a:endParaRPr lang="tr-TR" altLang="tr-TR" sz="1400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elements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from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stack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essentially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resetting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empty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state</a:t>
            </a:r>
            <a:r>
              <a:rPr kumimoji="0" lang="tr-TR" altLang="tr-T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4539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4AFB-2397-C401-0D8F-7194D15AF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B4C37-D2C7-9E11-A43B-1DF0C3D5B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int peek() { </a:t>
            </a:r>
          </a:p>
          <a:p>
            <a:r>
              <a:rPr lang="en-US" dirty="0"/>
              <a:t>   return stack[top]; </a:t>
            </a:r>
          </a:p>
          <a:p>
            <a:r>
              <a:rPr lang="en-US" dirty="0"/>
              <a:t>} </a:t>
            </a:r>
          </a:p>
          <a:p>
            <a:endParaRPr lang="en-US" dirty="0"/>
          </a:p>
          <a:p>
            <a:r>
              <a:rPr lang="en-US" dirty="0"/>
              <a:t>bool </a:t>
            </a:r>
            <a:r>
              <a:rPr lang="en-US" dirty="0" err="1"/>
              <a:t>isfull</a:t>
            </a:r>
            <a:r>
              <a:rPr lang="en-US" dirty="0"/>
              <a:t>() { </a:t>
            </a:r>
          </a:p>
          <a:p>
            <a:r>
              <a:rPr lang="en-US" dirty="0"/>
              <a:t>   if(top == MAXSIZE) </a:t>
            </a:r>
          </a:p>
          <a:p>
            <a:r>
              <a:rPr lang="en-US" dirty="0"/>
              <a:t>      return true; </a:t>
            </a:r>
          </a:p>
          <a:p>
            <a:r>
              <a:rPr lang="en-US" dirty="0"/>
              <a:t>   else </a:t>
            </a:r>
          </a:p>
          <a:p>
            <a:r>
              <a:rPr lang="en-US" dirty="0"/>
              <a:t>      return false; </a:t>
            </a:r>
          </a:p>
          <a:p>
            <a:r>
              <a:rPr lang="en-US" dirty="0"/>
              <a:t>}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088713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33E4B-48D4-DCF3-EF93-92D57476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E666D-8258-1D49-0EBA-144A73107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bool </a:t>
            </a:r>
            <a:r>
              <a:rPr lang="en-US" dirty="0" err="1"/>
              <a:t>isempty</a:t>
            </a:r>
            <a:r>
              <a:rPr lang="en-US" dirty="0"/>
              <a:t>() { </a:t>
            </a:r>
          </a:p>
          <a:p>
            <a:r>
              <a:rPr lang="en-US" dirty="0"/>
              <a:t>   if(top == -1) </a:t>
            </a:r>
          </a:p>
          <a:p>
            <a:r>
              <a:rPr lang="en-US" dirty="0"/>
              <a:t>      return true; </a:t>
            </a:r>
          </a:p>
          <a:p>
            <a:r>
              <a:rPr lang="en-US" dirty="0"/>
              <a:t>   else </a:t>
            </a:r>
          </a:p>
          <a:p>
            <a:r>
              <a:rPr lang="en-US" dirty="0"/>
              <a:t>      return false; </a:t>
            </a:r>
          </a:p>
          <a:p>
            <a:r>
              <a:rPr lang="en-US" dirty="0"/>
              <a:t>}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5837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A8FE5-1D99-4826-89D4-D3379F7E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D6D2E-034C-4823-9568-0344856A9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Operations on stack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Operations can be done only on the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Top element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pointer Top keeps track of the top element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 stack.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Initially when the stack is empty Top has the zero value.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Each time a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 element is inserted in the stack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pointer is incremented by one. This operation is called as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Push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also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pointer is decremented by one each time a deletion is made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from the stack. And this operation is called as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Pop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operation.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133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226F-20DF-4A06-8BB7-CBE714769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23AED-8FD4-4F12-8B76-AABF292D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</a:rPr>
              <a:t>PUSH :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If Top &gt;= n Then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Print`Overflow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message ` and exit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Top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Top + 1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S(Top)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X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Return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POP :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If Top &lt;= 0 then print ` underflow message ` and exit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POP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S(Top)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Top 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Top – 1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Return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04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83CC-BBE2-4E47-AB03-DA7D50DCA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A01C1-24D5-4524-8D52-BC06B6F62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Given a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and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item </a:t>
            </a:r>
            <a:r>
              <a:rPr lang="en-US" sz="1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performing the operation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push(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s,i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Adds the item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 the top of stack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Similarly, the operation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pop(s)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removes the top element and returns it as a function value. Thus the assignment operation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=pop(s);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removes the element at the top of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assigns its value to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Let us assume that we have the following values in the stack( (a) and (b) only).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316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F8CA3-E7E2-4AFF-84D2-8EAEE1AA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207113-55ED-4FC2-8D83-75A34E11D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8206" y="1145219"/>
            <a:ext cx="6125591" cy="5031744"/>
          </a:xfrm>
        </p:spPr>
      </p:pic>
    </p:spTree>
    <p:extLst>
      <p:ext uri="{BB962C8B-B14F-4D97-AF65-F5344CB8AC3E}">
        <p14:creationId xmlns:p14="http://schemas.microsoft.com/office/powerpoint/2010/main" val="3304447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5C679-E32F-4B1C-A833-8D3E5838C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AC60D7-863A-4C09-BA83-92B468930F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3289" y="1953087"/>
            <a:ext cx="8229599" cy="3619832"/>
          </a:xfrm>
        </p:spPr>
      </p:pic>
    </p:spTree>
    <p:extLst>
      <p:ext uri="{BB962C8B-B14F-4D97-AF65-F5344CB8AC3E}">
        <p14:creationId xmlns:p14="http://schemas.microsoft.com/office/powerpoint/2010/main" val="1800942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551C-81C0-4165-8BB3-9E11BA16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9122-91F8-477A-B23F-7B5366A1B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a stack contains a single item and the stack is popped, the resulting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 contains no items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called the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empty stack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Although the push operation is applicable to any stack, the pop operation can not be applied to the empty stack because such a stack has no elements to pop.</a:t>
            </a:r>
          </a:p>
          <a:p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Therefore,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before applying pop operation to a stack, we must ensure that stack is not empty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operation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empty(s)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determines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whether or not a stack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empty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If the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 is empty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empty(s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returns the value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TRUE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otherwise it returns the value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FALSE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842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E79F8-C6FE-7E28-F246-255C1CA14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80D0BF-44AA-21E7-3766-D0B034050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88344"/>
            <a:ext cx="10344988" cy="448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20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D9C70-110A-F4D8-F687-8DAF5B53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33ECE8-79DF-615A-E281-69A7ECDB8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210" y="1920240"/>
            <a:ext cx="7415602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86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ABE96-E49D-41EB-A660-288CCB9D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53E9DF-C152-830F-A4CA-7945281124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31" y="732155"/>
            <a:ext cx="9345943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5507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E2E4C-14FB-7765-080D-41AAF0D10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AFB8EF-3F03-9A94-8136-CEECC03D26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3925"/>
            <a:ext cx="7108574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318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9BE48-EDC8-4611-85F7-0E0BEAD99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947EF-8072-4170-A91D-A5C42A858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Another operation that can be performed on a stack to determine what the top item on a stack is without removing it.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operation is written </a:t>
            </a:r>
            <a:r>
              <a:rPr lang="en-US" sz="1800" b="1" dirty="0" err="1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stacktop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(s)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returns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top element of stack 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operation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staktop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is not really a new operation, since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can be decomposed into a pop and a push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stacktop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equivalent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=pop(s);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push(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s,i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35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5C06-F95D-47A3-83C5-FEEF93411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4DC09-405C-4864-98F2-2C085A641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Example :</a:t>
            </a:r>
          </a:p>
          <a:p>
            <a:r>
              <a:rPr lang="en-US" dirty="0"/>
              <a:t>Consider a mathematical expression that includes several sets of nested parentheses; for example</a:t>
            </a:r>
          </a:p>
          <a:p>
            <a:endParaRPr lang="en-US" dirty="0"/>
          </a:p>
          <a:p>
            <a:r>
              <a:rPr lang="en-US" dirty="0"/>
              <a:t>      	7 – ( ( X * ( ( X + Y ) / ( J – 3 ) ) + Y ) / ( 4 – 2.5 ) )</a:t>
            </a:r>
          </a:p>
          <a:p>
            <a:endParaRPr lang="en-US" dirty="0"/>
          </a:p>
          <a:p>
            <a:r>
              <a:rPr lang="en-US" dirty="0"/>
              <a:t>We want to ensure that </a:t>
            </a:r>
            <a:r>
              <a:rPr lang="en-US" dirty="0">
                <a:solidFill>
                  <a:srgbClr val="FF0000"/>
                </a:solidFill>
              </a:rPr>
              <a:t>parentheses are nested correctly</a:t>
            </a:r>
            <a:r>
              <a:rPr lang="en-US" dirty="0"/>
              <a:t>; that is, we want to check that</a:t>
            </a:r>
          </a:p>
          <a:p>
            <a:endParaRPr lang="en-US" dirty="0"/>
          </a:p>
          <a:p>
            <a:r>
              <a:rPr lang="en-US" dirty="0"/>
              <a:t>1.	There are equal number of right and left parentheses.</a:t>
            </a:r>
          </a:p>
          <a:p>
            <a:endParaRPr lang="en-US" dirty="0"/>
          </a:p>
          <a:p>
            <a:r>
              <a:rPr lang="en-US" dirty="0"/>
              <a:t>2.	Every right parenthesis is preceded by a matching left parenthesis.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957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70AD-00BE-47BB-A386-9DFE4D422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7BED1-B949-4B6F-8B24-1847BD6CBD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Expressions such as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 ( A + B )     	or	A + B(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violate condition 1, and expression such as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A + B ( - C	or	( A + B ) ) – ( C + D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violate condition 2.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908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2D35-2ED8-483F-B848-C0BE9C6F9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0AB38-4368-4A9F-9C03-171901E97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Let us define the </a:t>
            </a:r>
            <a:r>
              <a:rPr lang="en-US" dirty="0">
                <a:solidFill>
                  <a:srgbClr val="FF0000"/>
                </a:solidFill>
              </a:rPr>
              <a:t>parenthesis count</a:t>
            </a:r>
            <a:r>
              <a:rPr lang="en-US" dirty="0"/>
              <a:t> at a particular point in an expression as the </a:t>
            </a:r>
            <a:r>
              <a:rPr lang="en-US" dirty="0">
                <a:solidFill>
                  <a:srgbClr val="FF0000"/>
                </a:solidFill>
              </a:rPr>
              <a:t>number of left parentheses minus the number of right parentheses </a:t>
            </a:r>
            <a:r>
              <a:rPr lang="en-US" dirty="0"/>
              <a:t>that have been encountered in scanning the expression from its left end up to that particular point. If the parenthesis count is </a:t>
            </a:r>
            <a:r>
              <a:rPr lang="en-US" dirty="0">
                <a:solidFill>
                  <a:srgbClr val="FF0000"/>
                </a:solidFill>
              </a:rPr>
              <a:t>nonnegative</a:t>
            </a:r>
            <a:r>
              <a:rPr lang="en-US" dirty="0"/>
              <a:t>, Then the </a:t>
            </a:r>
            <a:r>
              <a:rPr lang="en-US" dirty="0">
                <a:solidFill>
                  <a:srgbClr val="FF0000"/>
                </a:solidFill>
              </a:rPr>
              <a:t>two conditions </a:t>
            </a:r>
            <a:r>
              <a:rPr lang="en-US" dirty="0"/>
              <a:t>that must hold .</a:t>
            </a:r>
          </a:p>
          <a:p>
            <a:endParaRPr lang="en-US" dirty="0"/>
          </a:p>
          <a:p>
            <a:r>
              <a:rPr lang="en-US" dirty="0"/>
              <a:t>1.	The parenthesis count at the expression is 0. This implies that exactly as many right parentheses as left parentheses have been found.</a:t>
            </a:r>
          </a:p>
          <a:p>
            <a:endParaRPr lang="en-US" dirty="0"/>
          </a:p>
          <a:p>
            <a:r>
              <a:rPr lang="en-US" dirty="0"/>
              <a:t>2.	The parenthesis  count at each point in the expression is nonnegative. This implies that no right parenthesis is encountered for which a matching left parenthesis had not previously been encountered.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447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3D61-E904-4944-92F7-37A26524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3B4CC-47CA-49BA-9A28-6FA18F8A2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7 – ( ( X * ( ( X + Y ) / ( J – 3 ) ) + Y ) / ( 4 – 2.5 ) )</a:t>
            </a:r>
          </a:p>
          <a:p>
            <a:r>
              <a:rPr lang="en-US" dirty="0"/>
              <a:t>00 1 22 2 34 4 4 4 334 4 4 3 2 2 21 12 2 2 2 210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9625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F228E-471D-4DAF-8294-C593C9FE9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8B47-D806-4FE8-9FDB-9670B3A8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( (  A + B )</a:t>
            </a:r>
          </a:p>
          <a:p>
            <a:r>
              <a:rPr lang="en-US" dirty="0"/>
              <a:t>1 2 2 2 2  1</a:t>
            </a:r>
          </a:p>
          <a:p>
            <a:endParaRPr lang="en-US" dirty="0"/>
          </a:p>
          <a:p>
            <a:r>
              <a:rPr lang="en-US" dirty="0"/>
              <a:t>A + B (</a:t>
            </a:r>
          </a:p>
          <a:p>
            <a:r>
              <a:rPr lang="en-US" dirty="0"/>
              <a:t>0 0 0 1</a:t>
            </a:r>
          </a:p>
          <a:p>
            <a:endParaRPr lang="en-US" dirty="0"/>
          </a:p>
          <a:p>
            <a:r>
              <a:rPr lang="en-US" dirty="0"/>
              <a:t>) A  +  B  (  -  C</a:t>
            </a:r>
          </a:p>
          <a:p>
            <a:pPr marL="0" indent="0">
              <a:buNone/>
            </a:pPr>
            <a:r>
              <a:rPr lang="en-US" dirty="0"/>
              <a:t>-1 -1 –1 –1 0 0  0</a:t>
            </a:r>
          </a:p>
          <a:p>
            <a:endParaRPr lang="en-US" dirty="0"/>
          </a:p>
          <a:p>
            <a:r>
              <a:rPr lang="en-US" dirty="0"/>
              <a:t>( A + B )  )  -   ( C + D</a:t>
            </a:r>
          </a:p>
          <a:p>
            <a:pPr marL="0" indent="0">
              <a:buNone/>
            </a:pPr>
            <a:r>
              <a:rPr lang="en-US" dirty="0"/>
              <a:t>   1 1 1 1 0 –1 –10 0 0  0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7172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182F-70B9-4003-8249-13FD2958A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9C85E-B12D-48C3-BAC5-FDD43DA71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Let us now change the problem and assume that three different types of  delimiters exist which are parentheses(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brackets(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and braces (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Thus, strings such as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( A + B ]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[ ( A + B ] )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{ A – ( B ] 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 illegal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necessary to keep track of not only how many scopes have been opened but also of their types.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6643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BE91-53E3-48F6-A677-BBF437AE9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6B2D0-141E-467A-B064-500D03253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stack may be used to keep track of the type of scopes encountered. </a:t>
            </a:r>
          </a:p>
          <a:p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Whenever a scope opener is encountered, it is pushed onto the stack. </a:t>
            </a:r>
          </a:p>
          <a:p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Whenever a scope ender is encountered, the stack is examined.</a:t>
            </a:r>
          </a:p>
          <a:p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If the stack is empty, the scope ender does not have a matching opener and the string  is therefore invalid. </a:t>
            </a:r>
          </a:p>
          <a:p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If, however the stack is nonempty, we pop the stack and check whether the popped  item corresponds to the scope ender.</a:t>
            </a: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If match occurs, we continue. If it does not, the string is invalid.</a:t>
            </a:r>
          </a:p>
          <a:p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When the end of the string is reached, the stack must be empty; otherwise one or more scopes have been opened which have not been closed, and the string is invalid.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620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7BF58-D749-4EB1-9333-5F455777E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D036E-8AF4-42D4-8C6D-0FBB25445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algorithm for this procedure follows.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valid=true;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s=the empty stack;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while(we have not read the entire string)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read the next symbol(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of the string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if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==’(‘ | |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==’[‘ | |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‘{‘ 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push(s,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if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==’)‘ | |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==’]‘ | |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‘}‘ 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if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emty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(s))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valid = false;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else{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pop(s)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         If (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not the matching opener of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          valid = false;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}  /* end  while */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(!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emty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(s))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valid = false;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(valid)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(“%s”, “the string is valid”);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else  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printf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(“%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s”,”the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string is invalid “);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4697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E0E7-4660-485C-892E-9F79890CB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E15CC-0FE0-408D-B757-59731B52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2964"/>
            <a:ext cx="10515600" cy="5884000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Assume that following string is given . Applying the given algorithm.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{ x + ( y – [ a + b ] ) * c – [ ( d + e ) ] } / ( h – ( j – ( k – [ l – n ] ) ) 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C83449-854A-4421-9A4A-BA4C39611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822" y="1269507"/>
            <a:ext cx="6507731" cy="558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051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EED1B-3DA1-47C9-9D61-D8DA92E9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Representing Stacks in 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058DD-B3AE-436E-B104-2E1A671F1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Stack may be declared as </a:t>
            </a:r>
            <a:r>
              <a:rPr lang="en-AU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structure containing two objects 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array to hold the elements of the stack,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an integer to indicate the position of the current stack top within the array. 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AU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can be done for a stack of integers by the declaration.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#define STACKSIZE 100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struct	stack 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int  top 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int  items[STACKSIZE];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};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Once this has been done, an actual stack s may be declared by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A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A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struct  stack  s;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286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FDFF9-278D-497E-AD13-BA54AC6C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9C88E-3FA2-4D8D-9C44-8CA424D18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value of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s.top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4, there are five elements on the stack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s.items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[0],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s.items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[1],..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s.items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[4].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the stack is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popped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the value of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s.top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changed to 3 to indicate that there are now only four elements on the stack and the top element is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s.items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[3]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endParaRPr lang="en-US" sz="1800" dirty="0">
              <a:latin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initialize a stack s to the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empty state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we may initially execute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s.top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=-1;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s.top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== -1)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/* stack is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emty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*/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else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       /* stack is not empty */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018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7F23D-C0D7-4C9D-9116-46AE319A7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F898-B021-4612-8F34-97810FF4D6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 empty(struct stack *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  if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-&gt;top == -1)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			return (TRUE);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else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return (FALSE);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45720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069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E40BE-6626-4F69-AAC1-845C43758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Example</a:t>
            </a:r>
            <a:r>
              <a:rPr lang="en-AU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AU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Push</a:t>
            </a:r>
            <a:r>
              <a:rPr lang="en-AU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</a:t>
            </a:r>
            <a:r>
              <a:rPr lang="en-AU" sz="4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POP  </a:t>
            </a:r>
            <a:r>
              <a:rPr lang="en-AU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algorithms can be written as functions in C as follows</a:t>
            </a:r>
            <a:b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09F99-0D91-4EFD-BBB3-317C96319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#include&lt;stdio.h&gt;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#include&lt;string.h&gt;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#include&lt;stdlib.h&gt;   //</a:t>
            </a:r>
            <a:r>
              <a:rPr lang="en-US" sz="1800" b="1" dirty="0">
                <a:latin typeface="Courier New" panose="02070309020205020404" pitchFamily="49" charset="0"/>
                <a:ea typeface="MS Mincho" panose="02020609040205080304" pitchFamily="49" charset="-128"/>
              </a:rPr>
              <a:t>D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ynamic </a:t>
            </a:r>
            <a:r>
              <a:rPr lang="en-US" sz="1800" b="1" dirty="0">
                <a:latin typeface="Courier New" panose="02070309020205020404" pitchFamily="49" charset="0"/>
                <a:ea typeface="MS Mincho" panose="02020609040205080304" pitchFamily="49" charset="-128"/>
              </a:rPr>
              <a:t>M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emory and exit() function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#include&lt;conio.h&gt;   //</a:t>
            </a:r>
            <a:r>
              <a:rPr lang="en-US" sz="1800" b="1" dirty="0">
                <a:latin typeface="Courier New" panose="02070309020205020404" pitchFamily="49" charset="0"/>
                <a:ea typeface="MS Mincho" panose="02020609040205080304" pitchFamily="49" charset="-128"/>
              </a:rPr>
              <a:t>Console-Input-Output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#define STACKSIZE 5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 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struct stack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{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int items[STACKSIZE];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int top;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} 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 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void push(struct stack *  ,int);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int pop(struct stack *);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 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 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592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AF7C0-21C7-43B5-868F-594337C81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E3FE6-071D-4BA7-B97E-1894590C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int main(void)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{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struct stack s;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int xx;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char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optype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s.top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=-1;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do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{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printf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("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ENter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Operation type \n");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scanf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("\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n%c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",&amp;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optype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);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switch (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optype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{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case 'I':{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	   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printf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("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ENter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input Number \n");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   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scanf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("%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d",&amp;xx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);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    push(&amp;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s,xx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);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        break;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    }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case 'D':{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   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printf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("%d %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s",pop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(&amp;s)," is deleted \n");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    break;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        }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default :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printf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("%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s","Illegal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Oparation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code \n");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}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}while (</a:t>
            </a:r>
            <a:r>
              <a:rPr lang="en-US" sz="2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optype</a:t>
            </a: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!='S');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return 0;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}</a:t>
            </a:r>
            <a:endParaRPr lang="en-US" sz="2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782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C7E6-0E63-49AD-AA3A-CEA9BBDC2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C90D-43BB-4F73-A3D8-496C377B6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int pop(struct stack *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)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{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int x;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-&gt;top==-1)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{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printf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("%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s","stack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underflow");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 exit(1);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 }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     else{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         x=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-&gt;items[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-&gt;top];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      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-&gt;top=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-&gt;top - 1;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     }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return x;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}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257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A401-5A6A-4D84-A015-0D6773B6B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A7FC0-3164-458E-90FD-52B5DD7EE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void push(struct stack *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, int x)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{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 if 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-&gt;top == STACKSIZE-1) {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		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printf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("%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s","stack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overflow ");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		exit(1);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		}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	      else{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		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-&gt;top=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-&gt;top + 1;// ++(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-&gt;top)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		   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-&gt;items[</a:t>
            </a:r>
            <a:r>
              <a:rPr lang="en-US" sz="1800" b="1" dirty="0" err="1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ps</a:t>
            </a: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-&gt;top]=x;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				   }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Courier New" panose="02070309020205020404" pitchFamily="49" charset="0"/>
                <a:ea typeface="MS Mincho" panose="02020609040205080304" pitchFamily="49" charset="-128"/>
              </a:rPr>
              <a:t>   }</a:t>
            </a:r>
            <a:endParaRPr lang="en-US" sz="1800" dirty="0">
              <a:effectLst/>
              <a:latin typeface="Courier New" panose="02070309020205020404" pitchFamily="49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9772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9B9EC-4D51-453E-BCCE-49B6516C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Evaluation of Infix expression using stack structures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5939D-E546-43E4-96BF-5208356A2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One of the most important step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during the compilation of a higher level programming languages (C/C++, Java, Python, C#, JavaScript, Visual Basic, ….)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to evaluate an expression. How does compiler evaluates a given arithmetic or logical expression.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 expression is made up of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Operands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Operators and delimiters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 example : Arithmetic expression is given as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/ (B^C + D) * E – 5 * C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7868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1512-FD5D-4A51-84A1-BC842935F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1A73D-0131-4D28-B3CF-3006EF06E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 operands are  A , B,  C, D, E, 5. One character letter or more, depends on programming languages. They can be legal variable names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Arithmetic operators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 ,  -  , * ,  / , ^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Relational operators  :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&lt; , &lt;= , &gt; ,  &gt;= , &lt;&gt; , =</a:t>
            </a:r>
          </a:p>
          <a:p>
            <a:endParaRPr lang="en-US" sz="1800" b="1" dirty="0">
              <a:latin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first problem is to understand the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meaning of an expression is to decide in what order the operation are carried out.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Now let us see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 can a compiler accept such an expression and produce correct code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which is postfix form.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815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7A5E-81D6-40A6-B9C1-B7C16A0F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2AEAA-B15E-48BC-99BF-9DBB66C32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9654" y="1834502"/>
            <a:ext cx="10515600" cy="4351338"/>
          </a:xfrm>
        </p:spPr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r>
              <a:rPr lang="en-US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Infix 	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en-US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Postfix                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45720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* B / C				A B * C /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Consider the sum of A and B. We think of applying the operator “+” to the operands A and B and write the sum as A + B.  This particular representation is called infix. There are two alternative notations for expressing the sum of A and B using symbols A, B , and +. These are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+ A B		prefix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B + 		postfix</a:t>
            </a:r>
          </a:p>
          <a:p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evaluation of the expression 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+ B * 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, as written in standard infix notation, requires knowledge of which of the two operations, + or *, is to be performed first.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8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5363-6868-4E32-BC5E-1EF9F1C9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5BA8E-A29C-482B-B5D6-41F82788F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 case of + and * we know that multiplication is to be done before addition(in the absence of parentheses to the contrary).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Thus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A+B*C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interpreted as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+ (B*C).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We say that multiplication takes precedence over addition.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Applying the rules of precedence, we first convert the portion of the expression that is evaluated first, namely the multiplication. By doing this conversion in stages we obtain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+ (B * C)	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parentheses for emphasis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+ (B C *) 	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convert the multiplication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( B C *) +	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convert the addition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B C * +	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postfix form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0245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885C4-9CC1-4E4B-B114-ADA31AFD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9C99B-0D31-4FF4-A3C0-A40D36FEF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When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unparenthesized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operators of the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same precedence are scanned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the order is assumed to be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left to right 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except in the case of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exponentiation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, where the order is assumed to be from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right to left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Thus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+ B + 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means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 + B )+C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whereas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^ B ^ C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means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^ (B ^ C).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 give the following additional examples of converting from infix to postfix.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Infix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</a:t>
            </a:r>
            <a:r>
              <a:rPr lang="en-US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Postfix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+ B						A B +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+ B – C					A B + C –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(A + B) * (C – D)				A B + C D - *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 * C – D + E/F/(G + H)			A B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 * D – E F/G H + / +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((A + B) * C – (D – E))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(F + G)		A B + C * D E - - F G +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A- B /(C * 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E)				A B C D 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* / -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5588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CFE6-D8D9-484F-A14C-86BDDA403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12FBF-4312-4CA4-8F03-6B9B52E37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precedence rules for converting an expression from infix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</a:t>
            </a: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prefix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 identical.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only changes from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prefix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conversion is that the operator is placed before the operands rather than after them.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Infix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</a:t>
            </a:r>
            <a:r>
              <a:rPr lang="en-US" sz="1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Prefix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+ B						+ A B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+ B – C					- + A B C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(A + B) * (C – D)				* + A B - C D 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 * C – D + E/F/(G + H)			+ - *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B C D / / E F+G H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((A + B) * C – (D – E))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(F + G)	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* +A B C - D E +  F G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A - B /(C * 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E)				- A / B * C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 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439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71598-00F7-4EFD-B942-497725B51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Evaluation of postfix expression</a:t>
            </a:r>
            <a:r>
              <a:rPr lang="en-US" sz="44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E677D-BA38-442A-BE0C-91F1E956F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427"/>
            <a:ext cx="10515600" cy="4756536"/>
          </a:xfrm>
        </p:spPr>
        <p:txBody>
          <a:bodyPr/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Rule : From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left to right find the first left most operator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apply the operation on </a:t>
            </a:r>
            <a:r>
              <a:rPr lang="en-US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two operand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 the left of the operator.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Expression is  :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B C ^ / D E * + A C * -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we apply the rule for the following arithmetic expression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 B C ^ / D E * + A C * -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Operation	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</a:t>
            </a:r>
            <a:r>
              <a:rPr lang="en-US" sz="18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Postfix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 ^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			A 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 D E * + A C * -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/ 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 E * + A C * -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 * E			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A C * -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+ 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C * -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 * C			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– 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T</a:t>
            </a:r>
            <a:r>
              <a:rPr lang="en-US" sz="1800" b="1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2137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0AD33-C2FC-4C96-91AB-0397A9F85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Evaluation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DB4E2-CB03-4187-ACE0-C8F70B496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stack=the empty stack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While (not end of input){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= next input character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If (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an operand) then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   Push(stack ,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Else { / *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an operator */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   	   Opnd2 = pop(stack)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   Opnd1 = pop(stack)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   Value = result of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appliying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symb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opnd1 and opnd2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   Push(stack , value)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   }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} /* end while */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return (pop(stack)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Suppose that we are asked to evaluate the following postfix expression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+mj-lt"/>
              <a:buAutoNum type="arabicPeriod" startAt="6"/>
              <a:tabLst>
                <a:tab pos="276225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 3  + - 3 8 2 / + * 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 </a:t>
            </a:r>
            <a:r>
              <a:rPr lang="en-US" sz="1800" b="1">
                <a:latin typeface="Times New Roman" panose="02020603050405020304" pitchFamily="18" charset="0"/>
                <a:ea typeface="Times New Roman" panose="02020603050405020304" pitchFamily="18" charset="0"/>
              </a:rPr>
              <a:t>^</a:t>
            </a:r>
            <a:r>
              <a:rPr lang="en-US" sz="1800" b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+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7625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7625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resulted value will be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52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033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4803</TotalTime>
  <Words>3552</Words>
  <Application>Microsoft Office PowerPoint</Application>
  <PresentationFormat>Widescreen</PresentationFormat>
  <Paragraphs>412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Times New Roman</vt:lpstr>
      <vt:lpstr>urw-din</vt:lpstr>
      <vt:lpstr>Office Theme</vt:lpstr>
      <vt:lpstr>Data Structures</vt:lpstr>
      <vt:lpstr>Stack</vt:lpstr>
      <vt:lpstr>stack</vt:lpstr>
      <vt:lpstr>Stack</vt:lpstr>
      <vt:lpstr>Stack </vt:lpstr>
      <vt:lpstr>Operations on Stacks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Representing Stacks in C</vt:lpstr>
      <vt:lpstr>PowerPoint Presentation</vt:lpstr>
      <vt:lpstr>PowerPoint Presentation</vt:lpstr>
      <vt:lpstr>Example: Push and POP  algorithms can be written as functions in C as follows </vt:lpstr>
      <vt:lpstr>PowerPoint Presentation</vt:lpstr>
      <vt:lpstr>PowerPoint Presentation</vt:lpstr>
      <vt:lpstr>PowerPoint Presentation</vt:lpstr>
      <vt:lpstr>Evaluation of Infix expression using stack structures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 of postfix expression </vt:lpstr>
      <vt:lpstr>Evaluation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Algorithms</dc:title>
  <dc:creator>PC</dc:creator>
  <cp:lastModifiedBy>umit serifi</cp:lastModifiedBy>
  <cp:revision>155</cp:revision>
  <dcterms:created xsi:type="dcterms:W3CDTF">2022-03-01T06:26:22Z</dcterms:created>
  <dcterms:modified xsi:type="dcterms:W3CDTF">2025-10-01T11:27:42Z</dcterms:modified>
</cp:coreProperties>
</file>