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58" r:id="rId3"/>
    <p:sldId id="759" r:id="rId4"/>
    <p:sldId id="760" r:id="rId5"/>
    <p:sldId id="761" r:id="rId6"/>
    <p:sldId id="747" r:id="rId7"/>
    <p:sldId id="748" r:id="rId8"/>
    <p:sldId id="750" r:id="rId9"/>
    <p:sldId id="749" r:id="rId10"/>
    <p:sldId id="751" r:id="rId11"/>
    <p:sldId id="752" r:id="rId12"/>
    <p:sldId id="753" r:id="rId13"/>
    <p:sldId id="754" r:id="rId14"/>
    <p:sldId id="755" r:id="rId15"/>
    <p:sldId id="756" r:id="rId16"/>
    <p:sldId id="757" r:id="rId17"/>
    <p:sldId id="762" r:id="rId18"/>
    <p:sldId id="671" r:id="rId19"/>
    <p:sldId id="719" r:id="rId20"/>
    <p:sldId id="720" r:id="rId21"/>
    <p:sldId id="721" r:id="rId22"/>
    <p:sldId id="722" r:id="rId23"/>
    <p:sldId id="723" r:id="rId24"/>
    <p:sldId id="72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D833-EC1F-4589-99F5-27F9C5A46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53F2C-3BCD-42F9-9A1F-07CFFD923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BC57-FFEA-48CA-862B-B0B8E77E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1ECB7-CF8B-48FB-93DC-DBEC9B65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441A1-21E1-411F-A036-17F6B926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6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C040-F6E6-4B59-94F8-F89F9AF3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3518F-505A-4ABB-9796-552E627F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9C74-2121-4D24-BF3C-E5E9B021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537C1-9224-4FBB-94C1-7CB111F4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C117-F313-43AB-A15B-0021FBF2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4D54-FAFB-4955-87EE-97087294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76EAD-F63A-4D3D-9EDB-4EFDB9B5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3C469-A8BA-4D5D-A9C8-3F9DEDF3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5B9A0-B877-419C-B030-1E775846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C4904-34D0-41E5-89E6-60123E56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9886-D0D7-4019-AC36-904924F7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69B7-BACD-4F84-8290-BFF7EC18F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FCB8A-95F5-42FB-B9E6-CFE47B9EB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D79A-B29F-42F4-872D-17EEDA0C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EE453-505A-4639-B086-056E4E5B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805E-6D23-4779-A362-82E476C9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4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51C7-9362-4A22-B76D-05E71EC3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F89BB-6726-48BC-9CAA-56F527FB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DAEA0-955C-4172-A15A-77A749818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54DA4-FFB6-4980-A2C7-F41867F7F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E5461-D9FB-49E0-95A9-4A45E6B25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41F2B-D71B-43D1-9ACF-2E3F9467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BA4F4-674B-4C5B-B879-1C9B5715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A40BC-5EF6-4535-AEF1-2D693D15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CBAD-DA78-447F-A503-C00F2F49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5C8EA-C014-4649-A197-8873BD76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119C2-5DF3-45C6-A7B1-16F18D9C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E419C-7262-472C-B60C-E9E3E9F6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3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31C98-3ADD-484D-8A15-84A6A350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2CF2A-4332-4D6B-81A8-69F96371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D6631-49ED-4DF5-9BFC-6F3CF722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63A1-7850-4D12-B5B2-CD9FEA3C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9491-481B-4B4A-85C8-BACE8A5F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172BA-D1E9-4588-A9FB-D6FC5B80B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5C7B7-B748-437A-A668-424FEBB2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BAD84-6B89-453D-A06F-C792294C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FBBAB-3F49-429E-9B24-FA6012BE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B9C0-E9F3-49D0-8163-C97ED0C0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BC29D-5891-49D0-9130-471F166A8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D7FEF-C47A-45B2-B308-D75AB28B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9BFAB-5F25-4109-B5EC-630450A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BFE9E-1E98-496E-92A8-6F3C57F1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2EF5-10C5-4CF3-B655-67E8431C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BA7F-915D-4AF8-B304-51158C76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B24ED-7C98-4683-956D-427472D52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72BD-CCC3-41B0-B462-F31F8C0D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3A65F-20B8-4AEE-81BA-D0C0F11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8B369-0816-4D85-B0CA-9895391F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9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D70BA-A065-4057-9591-297B456CE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90622-677B-4630-BDED-DFF36549B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09490-8D8A-41A2-B3C8-60E3160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4FED2-2132-4825-8673-D48ED175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85C0-3916-4EE7-8103-3E90AE2D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2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E1157-AF30-4E78-AB4B-03E2A30E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C919-0D55-4AEF-B9D4-BC1EC1E85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8E4CC-10BE-464E-9399-81CD4AA8F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1420-78C7-4835-84D1-53E65B511B4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189C2-15DE-445F-A2C1-BD4D2A9CC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F2FB3-1493-4AB9-A025-1A1EEBFD5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1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9685-4B6B-4351-9137-D87C1B6F9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46217-1F1C-425D-AE9C-527AFE90A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Assoc. Prof. Dr. </a:t>
            </a:r>
            <a:r>
              <a:rPr lang="tr-TR" dirty="0"/>
              <a:t>Meryem ŞERİFİ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C93EF-5F0A-B07C-B639-FC9BA166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E7140-58AA-6B7D-5D22-5678773A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C, C++, and Java, memory can be allocated on either a </a:t>
            </a:r>
            <a:r>
              <a:rPr lang="en-US" dirty="0">
                <a:solidFill>
                  <a:srgbClr val="FF0000"/>
                </a:solidFill>
              </a:rPr>
              <a:t>stack</a:t>
            </a:r>
            <a:r>
              <a:rPr lang="en-US" dirty="0"/>
              <a:t> or a </a:t>
            </a:r>
            <a:r>
              <a:rPr lang="en-US" dirty="0">
                <a:solidFill>
                  <a:srgbClr val="FF0000"/>
                </a:solidFill>
              </a:rPr>
              <a:t>heap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Stack allocation happens in the function call stack, where each function gets its own memory for variables. </a:t>
            </a:r>
          </a:p>
          <a:p>
            <a:endParaRPr lang="en-US" dirty="0"/>
          </a:p>
          <a:p>
            <a:r>
              <a:rPr lang="en-US" dirty="0"/>
              <a:t>Heap memory is allocated </a:t>
            </a:r>
            <a:r>
              <a:rPr lang="en-US" dirty="0">
                <a:solidFill>
                  <a:srgbClr val="FF0000"/>
                </a:solidFill>
              </a:rPr>
              <a:t>dynamically</a:t>
            </a:r>
            <a:r>
              <a:rPr lang="en-US" dirty="0"/>
              <a:t> during program execution.  </a:t>
            </a:r>
          </a:p>
        </p:txBody>
      </p:sp>
    </p:spTree>
    <p:extLst>
      <p:ext uri="{BB962C8B-B14F-4D97-AF65-F5344CB8AC3E}">
        <p14:creationId xmlns:p14="http://schemas.microsoft.com/office/powerpoint/2010/main" val="96044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471F-7A59-7718-210C-907CFEF4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A433-C8C2-9C20-7E81-711CC3CA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Features of Stack Allocation</a:t>
            </a:r>
          </a:p>
          <a:p>
            <a:r>
              <a:rPr lang="en-US" dirty="0"/>
              <a:t>Memory is available only while the function is running.</a:t>
            </a:r>
          </a:p>
          <a:p>
            <a:r>
              <a:rPr lang="en-US" dirty="0"/>
              <a:t>Automatic deallocation occurs when the function ends.</a:t>
            </a:r>
          </a:p>
          <a:p>
            <a:r>
              <a:rPr lang="en-US" dirty="0"/>
              <a:t>If the stack memory is full, an error (</a:t>
            </a:r>
            <a:r>
              <a:rPr lang="en-US" dirty="0" err="1"/>
              <a:t>StackOverflowError</a:t>
            </a:r>
            <a:r>
              <a:rPr lang="en-US" dirty="0"/>
              <a:t>) occurs.</a:t>
            </a:r>
          </a:p>
          <a:p>
            <a:r>
              <a:rPr lang="en-US" dirty="0"/>
              <a:t>Safer than heap memory, as data can only be accessed by the owner thread.</a:t>
            </a:r>
          </a:p>
          <a:p>
            <a:r>
              <a:rPr lang="en-US" dirty="0"/>
              <a:t>Faster than heap allocation due to automatic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295804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1013-0C3B-79FC-D936-E89C72C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CA32-95A8-12E1-9C4D-55B13845F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stack memory, </a:t>
            </a:r>
            <a:r>
              <a:rPr lang="en-US" b="1" dirty="0"/>
              <a:t>heap memory </a:t>
            </a:r>
            <a:r>
              <a:rPr lang="en-US" dirty="0"/>
              <a:t>is not freed automatically when a function ends. </a:t>
            </a:r>
          </a:p>
          <a:p>
            <a:endParaRPr lang="en-US" dirty="0"/>
          </a:p>
          <a:p>
            <a:r>
              <a:rPr lang="en-US" dirty="0"/>
              <a:t>Instead, it requires manual deallocation to reclaim unused memory.</a:t>
            </a:r>
          </a:p>
        </p:txBody>
      </p:sp>
    </p:spTree>
    <p:extLst>
      <p:ext uri="{BB962C8B-B14F-4D97-AF65-F5344CB8AC3E}">
        <p14:creationId xmlns:p14="http://schemas.microsoft.com/office/powerpoint/2010/main" val="398460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B83A-E34C-8705-73D0-8E69A0CA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A4F8-A0E8-83CF-EC09-68C8DDC44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Features of Heap Allocation</a:t>
            </a:r>
          </a:p>
          <a:p>
            <a:r>
              <a:rPr lang="en-US" dirty="0"/>
              <a:t>If heap memory is full, an error (</a:t>
            </a:r>
            <a:r>
              <a:rPr lang="en-US" dirty="0" err="1"/>
              <a:t>OutOfMemory</a:t>
            </a:r>
            <a:r>
              <a:rPr lang="en-US" dirty="0"/>
              <a:t>) occur.</a:t>
            </a:r>
          </a:p>
          <a:p>
            <a:r>
              <a:rPr lang="en-US" dirty="0"/>
              <a:t>Unlike stack memory, automatic deallocation does not happen; a garbage collector is needed to free unused memory.</a:t>
            </a:r>
          </a:p>
          <a:p>
            <a:r>
              <a:rPr lang="en-US" dirty="0"/>
              <a:t>Slower than stack memory due to manual allocation and garbage collection.</a:t>
            </a:r>
          </a:p>
          <a:p>
            <a:r>
              <a:rPr lang="en-US" dirty="0"/>
              <a:t>Less thread-safe, as heap memory is shared among all threads.</a:t>
            </a:r>
          </a:p>
          <a:p>
            <a:r>
              <a:rPr lang="en-US" dirty="0"/>
              <a:t>Typically larger in size compared to stack memory.</a:t>
            </a:r>
          </a:p>
          <a:p>
            <a:r>
              <a:rPr lang="en-US" dirty="0"/>
              <a:t>Heap memory persists as long as the entire application is running.</a:t>
            </a:r>
          </a:p>
        </p:txBody>
      </p:sp>
    </p:spTree>
    <p:extLst>
      <p:ext uri="{BB962C8B-B14F-4D97-AF65-F5344CB8AC3E}">
        <p14:creationId xmlns:p14="http://schemas.microsoft.com/office/powerpoint/2010/main" val="389442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BA4-BDC0-E534-5643-1AD64A6E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36267-2AC4-97E6-C18F-83FCD7C40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C, </a:t>
            </a:r>
            <a:r>
              <a:rPr lang="en-US" b="1" dirty="0">
                <a:solidFill>
                  <a:srgbClr val="FF0000"/>
                </a:solidFill>
              </a:rPr>
              <a:t>memory allocation</a:t>
            </a:r>
            <a:r>
              <a:rPr lang="en-US" dirty="0"/>
              <a:t> refers to how and where your program reserves space in RAM to store variables, arrays, structures, and dynamically created data. </a:t>
            </a:r>
          </a:p>
          <a:p>
            <a:endParaRPr lang="en-US" dirty="0"/>
          </a:p>
          <a:p>
            <a:r>
              <a:rPr lang="en-US" dirty="0"/>
              <a:t>It can happen in two main ways:</a:t>
            </a:r>
          </a:p>
          <a:p>
            <a:r>
              <a:rPr lang="en-US" b="1" dirty="0"/>
              <a:t>1. Static (Compile-Time) Memory Allocation</a:t>
            </a:r>
          </a:p>
          <a:p>
            <a:r>
              <a:rPr lang="en-US" b="1" dirty="0"/>
              <a:t>2. Dynamic (Run-Time)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36564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22E1-24DC-255C-C23D-44C5AF5B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D868-327D-63B2-2B09-A94E08F2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Static (Compile-Time) Memory Allocation</a:t>
            </a:r>
          </a:p>
          <a:p>
            <a:r>
              <a:rPr lang="en-US" dirty="0"/>
              <a:t>Memory is allocated </a:t>
            </a:r>
            <a:r>
              <a:rPr lang="en-US" b="1" dirty="0"/>
              <a:t>before the program runs</a:t>
            </a:r>
            <a:r>
              <a:rPr lang="en-US" dirty="0"/>
              <a:t>, during compilation.</a:t>
            </a:r>
          </a:p>
          <a:p>
            <a:r>
              <a:rPr lang="en-US" b="1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Static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Local variables (inside functions → </a:t>
            </a:r>
            <a:r>
              <a:rPr lang="en-US" b="1" dirty="0"/>
              <a:t>stack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Fixed-size arrays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0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A17-60C3-3FB8-66CA-EB1F88789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7A92-AF67-18AF-8677-F547ECE3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 x;            // stack</a:t>
            </a:r>
          </a:p>
          <a:p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[100];     // stack (fixed size)</a:t>
            </a:r>
          </a:p>
          <a:p>
            <a:r>
              <a:rPr lang="en-US" dirty="0"/>
              <a:t>static int count; // static memory</a:t>
            </a:r>
          </a:p>
          <a:p>
            <a:endParaRPr lang="en-US" dirty="0"/>
          </a:p>
          <a:p>
            <a:r>
              <a:rPr lang="en-US" b="1" dirty="0"/>
              <a:t>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Size must be known at compile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freed when the function ends (for stack variables)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flexible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67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3EF6-91D8-1B78-1915-A94435BD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97A5-A86D-51F2-EABF-08EE3B401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2-Dynamic (Run-Time) Memory Allocation</a:t>
            </a:r>
          </a:p>
          <a:p>
            <a:r>
              <a:rPr lang="en-US" dirty="0"/>
              <a:t>Memory is allocated while the program is running, using the heap.</a:t>
            </a:r>
          </a:p>
          <a:p>
            <a:endParaRPr lang="en-US" dirty="0"/>
          </a:p>
          <a:p>
            <a:r>
              <a:rPr lang="en-US" dirty="0"/>
              <a:t>You use the following library functions from &lt;</a:t>
            </a:r>
            <a:r>
              <a:rPr lang="en-US" dirty="0" err="1"/>
              <a:t>stdlib.h</a:t>
            </a:r>
            <a:r>
              <a:rPr lang="en-US" dirty="0"/>
              <a:t>&gt;: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3B762B-AF76-580B-ACAC-DD2991C94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851056"/>
              </p:ext>
            </p:extLst>
          </p:nvPr>
        </p:nvGraphicFramePr>
        <p:xfrm>
          <a:off x="1418303" y="4266765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323857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13744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81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malloc(size)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Allocate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31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calloc(n, 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Allocate and zero-initialize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30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realloc(ptr, new_size)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Resize previously allocated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13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free(ptr)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Release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89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46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31FB-E2DC-EAC4-A34A-DC6962E3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88A6-04D5-2F8A-805F-7DC1CB7DD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ptr</a:t>
            </a:r>
            <a:r>
              <a:rPr lang="en-US" dirty="0"/>
              <a:t> = (int*) malloc(5 * </a:t>
            </a:r>
            <a:r>
              <a:rPr lang="en-US" dirty="0" err="1"/>
              <a:t>sizeof</a:t>
            </a:r>
            <a:r>
              <a:rPr lang="en-US" dirty="0"/>
              <a:t>(int));  // allocate space for 5 integers</a:t>
            </a:r>
          </a:p>
          <a:p>
            <a:endParaRPr lang="en-US" dirty="0"/>
          </a:p>
          <a:p>
            <a:r>
              <a:rPr lang="en-US" dirty="0"/>
              <a:t>    if (</a:t>
            </a:r>
            <a:r>
              <a:rPr lang="en-US" dirty="0" err="1"/>
              <a:t>ptr</a:t>
            </a:r>
            <a:r>
              <a:rPr lang="en-US" dirty="0"/>
              <a:t> == NULL)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("Memory not allocated!\n");</a:t>
            </a:r>
          </a:p>
          <a:p>
            <a:r>
              <a:rPr lang="en-US" dirty="0"/>
              <a:t>        return 1;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44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C975-EFF3-5BC6-D50A-4E9EED76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07AB6-302B-4C2F-626A-292616A1D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// use the memory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</a:t>
            </a: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i</a:t>
            </a:r>
            <a:r>
              <a:rPr lang="en-US" dirty="0"/>
              <a:t> + 1;</a:t>
            </a:r>
          </a:p>
          <a:p>
            <a:endParaRPr lang="en-US" dirty="0"/>
          </a:p>
          <a:p>
            <a:r>
              <a:rPr lang="en-US" dirty="0"/>
              <a:t>    // print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endParaRPr lang="en-US" dirty="0"/>
          </a:p>
          <a:p>
            <a:r>
              <a:rPr lang="en-US" dirty="0"/>
              <a:t>    free(</a:t>
            </a:r>
            <a:r>
              <a:rPr lang="en-US" dirty="0" err="1"/>
              <a:t>ptr</a:t>
            </a:r>
            <a:r>
              <a:rPr lang="en-US" dirty="0"/>
              <a:t>);  // the memory must be manually freed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854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F6F6-0938-5119-21E7-315BFACA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174A4-8040-F120-20B1-39E31C7ED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Size can be decided at runtime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flexible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than static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Programmer must free memory manually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16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8CCD-8AE9-1644-BC24-7A517186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3DAB-D766-56B2-B8C2-D427E7315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Dynamic memory allocation allows a program to </a:t>
            </a:r>
            <a:r>
              <a:rPr lang="en-US" b="1" dirty="0"/>
              <a:t>ask the OS for memory at runtime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Size is not known before the program runs</a:t>
            </a:r>
          </a:p>
          <a:p>
            <a:r>
              <a:rPr lang="en-US" dirty="0"/>
              <a:t>Example: asking the user for the number of students:</a:t>
            </a:r>
          </a:p>
          <a:p>
            <a:endParaRPr lang="en-US" dirty="0"/>
          </a:p>
          <a:p>
            <a:r>
              <a:rPr lang="pt-BR" dirty="0"/>
              <a:t>int n;</a:t>
            </a:r>
          </a:p>
          <a:p>
            <a:r>
              <a:rPr lang="pt-BR" dirty="0"/>
              <a:t>scanf("%d", &amp;n);</a:t>
            </a:r>
          </a:p>
          <a:p>
            <a:r>
              <a:rPr lang="pt-BR" dirty="0"/>
              <a:t>int *grades = malloc(n * sizeof(int));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053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6931-2DBC-4ABA-D0F6-2ADE2A31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667C-19F1-CE31-393B-BAEC858D0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 need large memory</a:t>
            </a:r>
          </a:p>
          <a:p>
            <a:r>
              <a:rPr lang="en-US" dirty="0"/>
              <a:t>Stack is small (typically a few MB).</a:t>
            </a:r>
          </a:p>
          <a:p>
            <a:r>
              <a:rPr lang="en-US" dirty="0"/>
              <a:t>int big[10000000];  // stack overflow</a:t>
            </a:r>
          </a:p>
          <a:p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Heap</a:t>
            </a:r>
            <a:r>
              <a:rPr lang="en-US" dirty="0"/>
              <a:t> can be hundreds of megabytes or even gigabytes.</a:t>
            </a:r>
          </a:p>
          <a:p>
            <a:r>
              <a:rPr lang="en-US" dirty="0"/>
              <a:t>int *big = malloc(10000000 * </a:t>
            </a:r>
            <a:r>
              <a:rPr lang="en-US" dirty="0" err="1"/>
              <a:t>sizeof</a:t>
            </a:r>
            <a:r>
              <a:rPr lang="en-US" dirty="0"/>
              <a:t>(int)); // OK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37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CF35-44D6-7064-BADB-C17DCE2D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DFB9-0DC7-7ABE-6E86-A66584C48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data must live after the function ends</a:t>
            </a:r>
          </a:p>
          <a:p>
            <a:r>
              <a:rPr lang="en-US" dirty="0"/>
              <a:t>Local variables disappear when the function finishes.</a:t>
            </a:r>
          </a:p>
          <a:p>
            <a:endParaRPr lang="en-US" dirty="0"/>
          </a:p>
          <a:p>
            <a:r>
              <a:rPr lang="en-US" dirty="0"/>
              <a:t>int* </a:t>
            </a:r>
            <a:r>
              <a:rPr lang="en-US" dirty="0" err="1"/>
              <a:t>getArray</a:t>
            </a:r>
            <a:r>
              <a:rPr lang="en-US" dirty="0"/>
              <a:t>() {</a:t>
            </a:r>
          </a:p>
          <a:p>
            <a:r>
              <a:rPr lang="en-US" dirty="0"/>
              <a:t>    int *a = malloc(10 * </a:t>
            </a:r>
            <a:r>
              <a:rPr lang="en-US" dirty="0" err="1"/>
              <a:t>sizeof</a:t>
            </a:r>
            <a:r>
              <a:rPr lang="en-US" dirty="0"/>
              <a:t>(int)); // lives until free()</a:t>
            </a:r>
          </a:p>
          <a:p>
            <a:r>
              <a:rPr lang="en-US" dirty="0"/>
              <a:t>    return a;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06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7E46-8CE1-6DE4-8229-761EE0C5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BDEE0-7685-B1C4-04CB-F8924EC9A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 Memory Layout</a:t>
            </a:r>
          </a:p>
          <a:p>
            <a:r>
              <a:rPr lang="en-US" dirty="0"/>
              <a:t>Each running program has its own memory layout, separated from other programs. The layout consists of a lot of segments, including:</a:t>
            </a:r>
          </a:p>
          <a:p>
            <a:endParaRPr lang="en-US" dirty="0"/>
          </a:p>
          <a:p>
            <a:r>
              <a:rPr lang="en-US" dirty="0"/>
              <a:t>stack: stores local variables</a:t>
            </a:r>
          </a:p>
          <a:p>
            <a:r>
              <a:rPr lang="en-US" dirty="0"/>
              <a:t>heap: dynamic memory for programmer to allocate</a:t>
            </a:r>
          </a:p>
          <a:p>
            <a:r>
              <a:rPr lang="en-US" dirty="0"/>
              <a:t>data: stores global variables, separated into initialized and uninitialized</a:t>
            </a:r>
          </a:p>
          <a:p>
            <a:r>
              <a:rPr lang="en-US" dirty="0"/>
              <a:t>text: stores the code being executed</a:t>
            </a:r>
          </a:p>
        </p:txBody>
      </p:sp>
    </p:spTree>
    <p:extLst>
      <p:ext uri="{BB962C8B-B14F-4D97-AF65-F5344CB8AC3E}">
        <p14:creationId xmlns:p14="http://schemas.microsoft.com/office/powerpoint/2010/main" val="198199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B179-ACF0-FBE2-48CE-374A6EBB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4EBB5C-9783-6599-B2BB-9E33569B0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016" y="1834956"/>
            <a:ext cx="402869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B8198-B0B5-B5C9-BDB3-4A2B5372A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106" y="1690688"/>
            <a:ext cx="295316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3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>
            <a:extLst>
              <a:ext uri="{FF2B5EF4-FFF2-40B4-BE49-F238E27FC236}">
                <a16:creationId xmlns:a16="http://schemas.microsoft.com/office/drawing/2014/main" id="{802BA511-9734-7BD6-ABA1-90B9D8D43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CF23F1-57A2-4D90-B590-B2F095098E4D}" type="slidenum">
              <a:rPr lang="en-US" altLang="en-US">
                <a:latin typeface="Arial Black" panose="020B0A04020102020204" pitchFamily="34" charset="0"/>
              </a:rPr>
              <a:pPr/>
              <a:t>18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1CF86FC-B090-823D-363B-DC5821BF03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Allocating a Block of Memory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D29EE5D-28DC-F397-33A2-8D87D32A56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752600"/>
            <a:ext cx="8229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 block of memory can be allocated using the function </a:t>
            </a:r>
            <a:r>
              <a:rPr lang="en-US" altLang="en-US">
                <a:solidFill>
                  <a:srgbClr val="0000FF"/>
                </a:solidFill>
              </a:rPr>
              <a:t>malloc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Reserves a block of memory of specified size and returns a pointer of type </a:t>
            </a:r>
            <a:r>
              <a:rPr lang="en-US" altLang="en-US">
                <a:solidFill>
                  <a:srgbClr val="0000FF"/>
                </a:solidFill>
              </a:rPr>
              <a:t>void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return pointer can be type-casted to any pointer type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General format: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     </a:t>
            </a:r>
            <a:r>
              <a:rPr lang="en-US" altLang="en-US">
                <a:solidFill>
                  <a:srgbClr val="3333FF"/>
                </a:solidFill>
              </a:rPr>
              <a:t>type *p;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  <a:r>
              <a:rPr lang="en-US" altLang="en-US">
                <a:solidFill>
                  <a:srgbClr val="0000FF"/>
                </a:solidFill>
              </a:rPr>
              <a:t>p =  (type *) malloc (byte_size);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2">
            <a:extLst>
              <a:ext uri="{FF2B5EF4-FFF2-40B4-BE49-F238E27FC236}">
                <a16:creationId xmlns:a16="http://schemas.microsoft.com/office/drawing/2014/main" id="{502A2BA2-BB8B-F744-4CF9-5C5E5C3B90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D7B6BC-A3EC-450D-ADEB-E18B15BC72CC}" type="slidenum">
              <a:rPr lang="en-US" altLang="en-US">
                <a:latin typeface="Arial Black" panose="020B0A04020102020204" pitchFamily="34" charset="0"/>
              </a:rPr>
              <a:pPr/>
              <a:t>19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9F301AE-AA9E-78F4-24B7-59692AEA64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3048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592899" name="Rectangle 3">
            <a:extLst>
              <a:ext uri="{FF2B5EF4-FFF2-40B4-BE49-F238E27FC236}">
                <a16:creationId xmlns:a16="http://schemas.microsoft.com/office/drawing/2014/main" id="{E6574166-F103-9273-EFFA-CB073AEB8E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57401" y="1524001"/>
            <a:ext cx="7751763" cy="38274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>
                <a:solidFill>
                  <a:srgbClr val="0000FF"/>
                </a:solidFill>
              </a:rPr>
              <a:t>        p = (int *) malloc(100 * sizeof(int));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sz="180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en-US"/>
              <a:t> A memory space equivalent to </a:t>
            </a:r>
            <a:r>
              <a:rPr lang="en-US">
                <a:solidFill>
                  <a:srgbClr val="0000FF"/>
                </a:solidFill>
              </a:rPr>
              <a:t>100 times the size of an int</a:t>
            </a:r>
            <a:r>
              <a:rPr lang="en-US"/>
              <a:t> bytes is reserved</a:t>
            </a:r>
          </a:p>
          <a:p>
            <a:pPr lvl="1" eaLnBrk="1" hangingPunct="1">
              <a:defRPr/>
            </a:pPr>
            <a:r>
              <a:rPr lang="en-US"/>
              <a:t>The address of the first byte of the allocated memory is assigned to the pointer </a:t>
            </a:r>
            <a:r>
              <a:rPr lang="en-US">
                <a:solidFill>
                  <a:srgbClr val="0000FF"/>
                </a:solidFill>
              </a:rPr>
              <a:t>p</a:t>
            </a:r>
            <a:r>
              <a:rPr lang="en-US"/>
              <a:t> of type </a:t>
            </a:r>
            <a:r>
              <a:rPr lang="en-US">
                <a:solidFill>
                  <a:srgbClr val="0000FF"/>
                </a:solidFill>
              </a:rPr>
              <a:t>int</a:t>
            </a:r>
            <a:endParaRPr lang="en-US"/>
          </a:p>
        </p:txBody>
      </p:sp>
      <p:grpSp>
        <p:nvGrpSpPr>
          <p:cNvPr id="8197" name="Group 14">
            <a:extLst>
              <a:ext uri="{FF2B5EF4-FFF2-40B4-BE49-F238E27FC236}">
                <a16:creationId xmlns:a16="http://schemas.microsoft.com/office/drawing/2014/main" id="{2B3E4E07-6423-6CB0-9BB0-724AFCE6CF7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724400"/>
            <a:ext cx="7456488" cy="1911350"/>
            <a:chOff x="291" y="2789"/>
            <a:chExt cx="4697" cy="1204"/>
          </a:xfrm>
        </p:grpSpPr>
        <p:sp>
          <p:nvSpPr>
            <p:cNvPr id="8198" name="Rectangle 4">
              <a:extLst>
                <a:ext uri="{FF2B5EF4-FFF2-40B4-BE49-F238E27FC236}">
                  <a16:creationId xmlns:a16="http://schemas.microsoft.com/office/drawing/2014/main" id="{8FA4BA94-3795-3866-5871-EEAD882B1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3321"/>
              <a:ext cx="2640" cy="336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0" tIns="45715" rIns="91430" bIns="4571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8199" name="Line 5">
              <a:extLst>
                <a:ext uri="{FF2B5EF4-FFF2-40B4-BE49-F238E27FC236}">
                  <a16:creationId xmlns:a16="http://schemas.microsoft.com/office/drawing/2014/main" id="{E0B50910-08AF-0242-F3C0-7CACBD7B9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32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0" name="Line 6">
              <a:extLst>
                <a:ext uri="{FF2B5EF4-FFF2-40B4-BE49-F238E27FC236}">
                  <a16:creationId xmlns:a16="http://schemas.microsoft.com/office/drawing/2014/main" id="{1C3D79ED-F950-A4B2-908C-3ED20CB1D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" y="332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1" name="Line 7">
              <a:extLst>
                <a:ext uri="{FF2B5EF4-FFF2-40B4-BE49-F238E27FC236}">
                  <a16:creationId xmlns:a16="http://schemas.microsoft.com/office/drawing/2014/main" id="{95D2E7B9-81C8-FD3A-58CD-CE8895F55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2" y="332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Line 8">
              <a:extLst>
                <a:ext uri="{FF2B5EF4-FFF2-40B4-BE49-F238E27FC236}">
                  <a16:creationId xmlns:a16="http://schemas.microsoft.com/office/drawing/2014/main" id="{5CE7D927-8CFE-DE86-B544-69A423452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0" y="332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9">
              <a:extLst>
                <a:ext uri="{FF2B5EF4-FFF2-40B4-BE49-F238E27FC236}">
                  <a16:creationId xmlns:a16="http://schemas.microsoft.com/office/drawing/2014/main" id="{FDCEBF84-DA1D-E8F0-DEC5-193006DB9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" y="332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Rectangle 10">
              <a:extLst>
                <a:ext uri="{FF2B5EF4-FFF2-40B4-BE49-F238E27FC236}">
                  <a16:creationId xmlns:a16="http://schemas.microsoft.com/office/drawing/2014/main" id="{7A32431A-FD27-84C7-E111-13EC3E225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2793"/>
              <a:ext cx="384" cy="336"/>
            </a:xfrm>
            <a:prstGeom prst="rect">
              <a:avLst/>
            </a:prstGeom>
            <a:solidFill>
              <a:srgbClr val="E7E7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0" tIns="45715" rIns="91430" bIns="4571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8205" name="Line 11">
              <a:extLst>
                <a:ext uri="{FF2B5EF4-FFF2-40B4-BE49-F238E27FC236}">
                  <a16:creationId xmlns:a16="http://schemas.microsoft.com/office/drawing/2014/main" id="{BCAA6968-1F73-7B39-5B58-A7BFAC219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" y="2937"/>
              <a:ext cx="134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Text Box 12">
              <a:extLst>
                <a:ext uri="{FF2B5EF4-FFF2-40B4-BE49-F238E27FC236}">
                  <a16:creationId xmlns:a16="http://schemas.microsoft.com/office/drawing/2014/main" id="{0230ED16-52F1-C617-B085-A7C6971E0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78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b="1">
                  <a:solidFill>
                    <a:srgbClr val="FF0000"/>
                  </a:solidFill>
                </a:rPr>
                <a:t>p</a:t>
              </a:r>
            </a:p>
          </p:txBody>
        </p:sp>
        <p:sp>
          <p:nvSpPr>
            <p:cNvPr id="8207" name="Text Box 13">
              <a:extLst>
                <a:ext uri="{FF2B5EF4-FFF2-40B4-BE49-F238E27FC236}">
                  <a16:creationId xmlns:a16="http://schemas.microsoft.com/office/drawing/2014/main" id="{14878AC7-505D-E916-4406-C820DB447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3705"/>
              <a:ext cx="2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b="1"/>
                <a:t>400 bytes of space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>
            <a:extLst>
              <a:ext uri="{FF2B5EF4-FFF2-40B4-BE49-F238E27FC236}">
                <a16:creationId xmlns:a16="http://schemas.microsoft.com/office/drawing/2014/main" id="{01A2E859-DD06-84E5-0E4C-18F97251E8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37007EC-1BB6-4012-A154-F4B0BDB9AD0A}" type="slidenum">
              <a:rPr lang="en-US" altLang="en-US">
                <a:latin typeface="Arial Black" panose="020B0A04020102020204" pitchFamily="34" charset="0"/>
              </a:rPr>
              <a:pPr/>
              <a:t>20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47A8C93-BF4D-1573-38A4-6F4A944158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Contd.</a:t>
            </a:r>
          </a:p>
        </p:txBody>
      </p:sp>
      <p:sp>
        <p:nvSpPr>
          <p:cNvPr id="593923" name="Rectangle 3">
            <a:extLst>
              <a:ext uri="{FF2B5EF4-FFF2-40B4-BE49-F238E27FC236}">
                <a16:creationId xmlns:a16="http://schemas.microsoft.com/office/drawing/2014/main" id="{4EAD442B-1854-6AE6-0FCC-8D9525CE49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05000" y="1219200"/>
            <a:ext cx="8305800" cy="3810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>
                <a:solidFill>
                  <a:srgbClr val="0000FF"/>
                </a:solidFill>
              </a:rPr>
              <a:t>cptr = (char *) malloc (20);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sz="280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/>
              <a:t>   Allocates 20 bytes of space for the pointer </a:t>
            </a:r>
            <a:r>
              <a:rPr lang="en-US">
                <a:solidFill>
                  <a:srgbClr val="0000FF"/>
                </a:solidFill>
              </a:rPr>
              <a:t>cptr</a:t>
            </a:r>
            <a:r>
              <a:rPr lang="en-US"/>
              <a:t> of type </a:t>
            </a:r>
            <a:r>
              <a:rPr lang="en-US">
                <a:solidFill>
                  <a:srgbClr val="0000FF"/>
                </a:solidFill>
              </a:rPr>
              <a:t>char</a:t>
            </a:r>
            <a:endParaRPr lang="en-US"/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  <a:defRPr/>
            </a:pPr>
            <a:endParaRPr lang="en-US" sz="28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/>
              <a:t>  </a:t>
            </a:r>
            <a:r>
              <a:rPr lang="en-US">
                <a:solidFill>
                  <a:srgbClr val="0000FF"/>
                </a:solidFill>
              </a:rPr>
              <a:t>sptr = (struct stud *) malloc(10*sizeof(struct stud));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defRPr/>
            </a:pPr>
            <a:endParaRPr lang="en-US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/>
              <a:t> Allocates space for a structure array of 10 elements. </a:t>
            </a:r>
            <a:r>
              <a:rPr lang="en-US">
                <a:solidFill>
                  <a:srgbClr val="0000FF"/>
                </a:solidFill>
              </a:rPr>
              <a:t>sptr</a:t>
            </a:r>
            <a:r>
              <a:rPr lang="en-US"/>
              <a:t> points to a structure element of type </a:t>
            </a:r>
            <a:r>
              <a:rPr lang="en-US">
                <a:solidFill>
                  <a:srgbClr val="0000FF"/>
                </a:solidFill>
              </a:rPr>
              <a:t>struct stud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>
              <a:solidFill>
                <a:srgbClr val="0000FF"/>
              </a:solidFill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sz="2400" b="1">
                <a:solidFill>
                  <a:srgbClr val="FF0000"/>
                </a:solidFill>
              </a:rPr>
              <a:t>Always use sizeof operator to find number of bytes for a data type, as it can vary from machine to machine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>
            <a:extLst>
              <a:ext uri="{FF2B5EF4-FFF2-40B4-BE49-F238E27FC236}">
                <a16:creationId xmlns:a16="http://schemas.microsoft.com/office/drawing/2014/main" id="{F5045CD1-CFF5-82F9-5940-302053772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B08DAF4-F09F-469D-A5A6-52C6DDB41510}" type="slidenum">
              <a:rPr lang="en-US" altLang="en-US">
                <a:latin typeface="Arial Black" panose="020B0A04020102020204" pitchFamily="34" charset="0"/>
              </a:rPr>
              <a:pPr/>
              <a:t>21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B89281C-1D97-258D-41F3-AEFF1C2B23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Points to Note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05D26620-DF96-F26D-0905-8CA205C1D3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33601" y="1447800"/>
            <a:ext cx="7643813" cy="365125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malloc</a:t>
            </a:r>
            <a:r>
              <a:rPr lang="en-US" altLang="en-US"/>
              <a:t> always allocates a block of contiguous bytes</a:t>
            </a:r>
          </a:p>
          <a:p>
            <a:pPr lvl="1" eaLnBrk="1" hangingPunct="1"/>
            <a:r>
              <a:rPr lang="en-US" altLang="en-US"/>
              <a:t>The allocation can fail if sufficient contiguous memory space is not available</a:t>
            </a:r>
          </a:p>
          <a:p>
            <a:pPr lvl="1" eaLnBrk="1" hangingPunct="1"/>
            <a:r>
              <a:rPr lang="en-US" altLang="en-US"/>
              <a:t>If it fails, </a:t>
            </a:r>
            <a:r>
              <a:rPr lang="en-US" altLang="en-US">
                <a:solidFill>
                  <a:srgbClr val="0000FF"/>
                </a:solidFill>
              </a:rPr>
              <a:t>malloc</a:t>
            </a:r>
            <a:r>
              <a:rPr lang="en-US" altLang="en-US"/>
              <a:t> returns </a:t>
            </a:r>
            <a:r>
              <a:rPr lang="en-US" altLang="en-US">
                <a:solidFill>
                  <a:srgbClr val="0000FF"/>
                </a:solidFill>
              </a:rPr>
              <a:t>NULL</a:t>
            </a:r>
            <a:endParaRPr lang="en-US" altLang="en-US"/>
          </a:p>
          <a:p>
            <a:pPr lvl="1" eaLnBrk="1" hangingPunct="1"/>
            <a:endParaRPr lang="en-US" altLang="en-US" sz="2000">
              <a:solidFill>
                <a:srgbClr val="800080"/>
              </a:solidFill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if  ((p = (int *) malloc(100 * sizeof(int))) == NULL)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  {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  printf (“\n Memory cannot be allocated”);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  exit();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}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7243FC00-FCFA-010F-44B1-35424889F9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B5EFAD4-AF1C-48B6-9A21-D2405FF80C48}" type="slidenum">
              <a:rPr lang="en-US" altLang="en-US">
                <a:latin typeface="Arial Black" panose="020B0A04020102020204" pitchFamily="34" charset="0"/>
              </a:rPr>
              <a:pPr/>
              <a:t>22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4402277-8B85-F8D3-4A07-698CDBDE8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Using the malloc’d Array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D8D4BFA-DF33-C927-BFEE-723D43046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47800"/>
            <a:ext cx="8382000" cy="4876800"/>
          </a:xfrm>
        </p:spPr>
        <p:txBody>
          <a:bodyPr/>
          <a:lstStyle/>
          <a:p>
            <a:pPr eaLnBrk="1" hangingPunct="1"/>
            <a:r>
              <a:rPr lang="en-US" altLang="en-US" sz="2400"/>
              <a:t>Once the memory is allocated, it can be used with pointers, or with array notation</a:t>
            </a:r>
          </a:p>
          <a:p>
            <a:pPr eaLnBrk="1" hangingPunct="1"/>
            <a:r>
              <a:rPr lang="en-US" altLang="en-US" sz="2400"/>
              <a:t>Example: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		</a:t>
            </a:r>
            <a:r>
              <a:rPr lang="en-US" altLang="en-US">
                <a:solidFill>
                  <a:srgbClr val="0000FF"/>
                </a:solidFill>
              </a:rPr>
              <a:t>int *p, n, i;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scanf(“%d”, &amp;n);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p = (int *) malloc (n * sizeof(int));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           for (i=0; i&lt;n; ++i)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     scanf(“%d”, </a:t>
            </a:r>
            <a:r>
              <a:rPr lang="en-US" altLang="en-US">
                <a:solidFill>
                  <a:srgbClr val="FF0000"/>
                </a:solidFill>
              </a:rPr>
              <a:t>&amp;p[i]</a:t>
            </a:r>
            <a:r>
              <a:rPr lang="en-US" altLang="en-US">
                <a:solidFill>
                  <a:srgbClr val="0000FF"/>
                </a:solidFill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The n integers allocated can be accessed as </a:t>
            </a:r>
            <a:r>
              <a:rPr lang="en-US" altLang="en-US" sz="2400">
                <a:solidFill>
                  <a:srgbClr val="0000FF"/>
                </a:solidFill>
              </a:rPr>
              <a:t>*p, *(p+1), *(p+2),…, *(p+n-1)</a:t>
            </a:r>
            <a:r>
              <a:rPr lang="en-US" altLang="en-US" sz="2400"/>
              <a:t> or just as </a:t>
            </a:r>
            <a:r>
              <a:rPr lang="en-US" altLang="en-US" sz="2400">
                <a:solidFill>
                  <a:srgbClr val="0000FF"/>
                </a:solidFill>
              </a:rPr>
              <a:t>p[0], p[1], p[2], …,p[n-1]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>
            <a:extLst>
              <a:ext uri="{FF2B5EF4-FFF2-40B4-BE49-F238E27FC236}">
                <a16:creationId xmlns:a16="http://schemas.microsoft.com/office/drawing/2014/main" id="{2555183A-56E6-E27E-1C20-84F92CAF4B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637136A-A032-41AE-A3F3-B1BBCC5FB24A}" type="slidenum">
              <a:rPr lang="en-US" altLang="en-US">
                <a:latin typeface="Arial Black" panose="020B0A04020102020204" pitchFamily="34" charset="0"/>
              </a:rPr>
              <a:pPr/>
              <a:t>23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E7C4385-5596-0B5D-5BB8-67D1E6D8D7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358646FB-2A0C-28DA-49C7-7CD5E39B3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676401"/>
            <a:ext cx="4381500" cy="4475163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printf("Input heights for %d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students \n",N);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for (i=0; i&lt;N; i++)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 scanf ("%f",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&amp;height[i]</a:t>
            </a:r>
            <a:r>
              <a:rPr lang="en-US" altLang="en-US" sz="16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for(i=0;i&lt;N;i++)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  sum +=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height[i]</a:t>
            </a:r>
            <a:r>
              <a:rPr lang="en-US" altLang="en-US" sz="16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avg = sum / (float) N;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printf("Average height = %f \n",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             avg);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free (height);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return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1D80E6AB-51D3-5528-055A-F501B60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4597400" cy="3873500"/>
          </a:xfrm>
          <a:prstGeom prst="rect">
            <a:avLst/>
          </a:prstGeom>
          <a:solidFill>
            <a:srgbClr val="EAEAEA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int i,N;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float *height;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float sum=0,avg;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printf("Input no. of students\n");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scanf("%d", &amp;N);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latin typeface="Courier New" panose="02070309020205020404" pitchFamily="49" charset="0"/>
              </a:rPr>
              <a:t>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height = (float *)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       malloc(N * sizeof(float));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6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>
            <a:extLst>
              <a:ext uri="{FF2B5EF4-FFF2-40B4-BE49-F238E27FC236}">
                <a16:creationId xmlns:a16="http://schemas.microsoft.com/office/drawing/2014/main" id="{9D8131E5-9F0A-3208-ECFB-8FF375228B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42A0C6-72B6-4171-A295-791685F2B099}" type="slidenum">
              <a:rPr lang="en-US" altLang="en-US">
                <a:latin typeface="Arial Black" panose="020B0A04020102020204" pitchFamily="34" charset="0"/>
              </a:rPr>
              <a:pPr/>
              <a:t>24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654DA6C-05D2-6A95-BE84-1324E81EC5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Releasing the Allocated Space: </a:t>
            </a:r>
            <a:r>
              <a:rPr lang="en-US" altLang="en-US" sz="4000">
                <a:solidFill>
                  <a:srgbClr val="0000FF"/>
                </a:solidFill>
              </a:rPr>
              <a:t>free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BF9DD05-61E7-4F16-6468-CBB6187DCD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905000"/>
            <a:ext cx="8153400" cy="4191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An allocated block can be returned to the system for future use by using the </a:t>
            </a:r>
            <a:r>
              <a:rPr lang="en-US" altLang="en-US">
                <a:solidFill>
                  <a:srgbClr val="0000FF"/>
                </a:solidFill>
              </a:rPr>
              <a:t>free</a:t>
            </a:r>
            <a:r>
              <a:rPr lang="en-US" altLang="en-US"/>
              <a:t> function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General syntax: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/>
              <a:t>        </a:t>
            </a:r>
            <a:r>
              <a:rPr lang="en-US" altLang="en-US">
                <a:solidFill>
                  <a:srgbClr val="0000FF"/>
                </a:solidFill>
              </a:rPr>
              <a:t>free (ptr);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/>
              <a:t>    where </a:t>
            </a:r>
            <a:r>
              <a:rPr lang="en-US" altLang="en-US">
                <a:solidFill>
                  <a:srgbClr val="0000FF"/>
                </a:solidFill>
              </a:rPr>
              <a:t>ptr</a:t>
            </a:r>
            <a:r>
              <a:rPr lang="en-US" altLang="en-US"/>
              <a:t> is a pointer to a memory block which has been previously created using </a:t>
            </a:r>
            <a:r>
              <a:rPr lang="en-US" altLang="en-US">
                <a:solidFill>
                  <a:srgbClr val="0000FF"/>
                </a:solidFill>
              </a:rPr>
              <a:t>malloc</a:t>
            </a:r>
            <a:endParaRPr lang="en-US" altLang="en-US"/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Note that no size needs to be mentioned for the allocated block, the system remembers it for each pointer returned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5074</TotalTime>
  <Words>1446</Words>
  <Application>Microsoft Office PowerPoint</Application>
  <PresentationFormat>Widescreen</PresentationFormat>
  <Paragraphs>212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Data Structures</vt:lpstr>
      <vt:lpstr>Memory Allocation</vt:lpstr>
      <vt:lpstr>Memory Allocation</vt:lpstr>
      <vt:lpstr>Memory Allocation</vt:lpstr>
      <vt:lpstr>PowerPoint Presentation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Allocating a Block of Memory</vt:lpstr>
      <vt:lpstr>Example</vt:lpstr>
      <vt:lpstr>Contd.</vt:lpstr>
      <vt:lpstr>Points to Note</vt:lpstr>
      <vt:lpstr>Using the malloc’d Array</vt:lpstr>
      <vt:lpstr>Example</vt:lpstr>
      <vt:lpstr>Releasing the Allocated Space: free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PC</dc:creator>
  <cp:lastModifiedBy>sh.nima.2000@gmail.com</cp:lastModifiedBy>
  <cp:revision>186</cp:revision>
  <dcterms:created xsi:type="dcterms:W3CDTF">2022-03-01T06:26:22Z</dcterms:created>
  <dcterms:modified xsi:type="dcterms:W3CDTF">2025-11-26T20:59:15Z</dcterms:modified>
</cp:coreProperties>
</file>